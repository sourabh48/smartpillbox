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bookmarkIdSeed="8">
  <p:sldMasterIdLst>
    <p:sldMasterId id="2147483672" r:id="rId4"/>
  </p:sldMasterIdLst>
  <p:sldIdLst>
    <p:sldId id="256" r:id="rId5"/>
    <p:sldId id="261" r:id="rId6"/>
    <p:sldId id="258" r:id="rId7"/>
    <p:sldId id="259" r:id="rId8"/>
    <p:sldId id="262" r:id="rId9"/>
    <p:sldId id="263" r:id="rId10"/>
    <p:sldId id="264" r:id="rId11"/>
    <p:sldId id="265" r:id="rId12"/>
    <p:sldId id="266" r:id="rId13"/>
    <p:sldId id="267" r:id="rId14"/>
    <p:sldId id="268" r:id="rId15"/>
    <p:sldId id="269" r:id="rId16"/>
    <p:sldId id="270" r:id="rId17"/>
    <p:sldId id="271" r:id="rId18"/>
    <p:sldId id="272" r:id="rId19"/>
    <p:sldId id="260"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48" autoAdjust="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5AA53B-3EEE-4DE4-BB81-9044890C2946}" type="doc">
      <dgm:prSet loTypeId="urn:microsoft.com/office/officeart/2008/layout/VerticalCurvedList" loCatId="list" qsTypeId="urn:microsoft.com/office/officeart/2005/8/quickstyle/simple4" qsCatId="simple" csTypeId="urn:microsoft.com/office/officeart/2005/8/colors/accent2_2" csCatId="accent2" phldr="1"/>
      <dgm:spPr/>
      <dgm:t>
        <a:bodyPr/>
        <a:lstStyle/>
        <a:p>
          <a:endParaRPr lang="en-US"/>
        </a:p>
      </dgm:t>
    </dgm:pt>
    <dgm:pt modelId="{507A2FED-A517-4BC4-86BF-502123AE5225}">
      <dgm:prSet/>
      <dgm:spPr/>
      <dgm:t>
        <a:bodyPr/>
        <a:lstStyle/>
        <a:p>
          <a:r>
            <a:rPr lang="en-US" dirty="0" smtClean="0"/>
            <a:t>IR- Infra-Red.</a:t>
          </a:r>
          <a:endParaRPr lang="en-IN" dirty="0"/>
        </a:p>
      </dgm:t>
    </dgm:pt>
    <dgm:pt modelId="{C604BADB-F291-4E93-A2ED-8190FFAAC73B}" type="parTrans" cxnId="{B09754CB-3836-4E1F-B72A-5D0477B1CDF0}">
      <dgm:prSet/>
      <dgm:spPr/>
      <dgm:t>
        <a:bodyPr/>
        <a:lstStyle/>
        <a:p>
          <a:endParaRPr lang="en-US"/>
        </a:p>
      </dgm:t>
    </dgm:pt>
    <dgm:pt modelId="{A0BC805A-7D15-46D3-B1E1-5BD9889F136C}" type="sibTrans" cxnId="{B09754CB-3836-4E1F-B72A-5D0477B1CDF0}">
      <dgm:prSet/>
      <dgm:spPr/>
      <dgm:t>
        <a:bodyPr/>
        <a:lstStyle/>
        <a:p>
          <a:endParaRPr lang="en-US"/>
        </a:p>
      </dgm:t>
    </dgm:pt>
    <dgm:pt modelId="{183BC45C-7FD0-4DB6-96C1-F3967D5BDD35}">
      <dgm:prSet/>
      <dgm:spPr/>
      <dgm:t>
        <a:bodyPr/>
        <a:lstStyle/>
        <a:p>
          <a:r>
            <a:rPr lang="en-US" smtClean="0"/>
            <a:t>Pulse sensor- measures the pulse and creates a graph on the android application.</a:t>
          </a:r>
          <a:endParaRPr lang="en-IN" dirty="0"/>
        </a:p>
      </dgm:t>
    </dgm:pt>
    <dgm:pt modelId="{3E5B482B-2E6F-49F0-B9C4-220F9ABD291A}" type="parTrans" cxnId="{BFE3A476-34C5-4CDF-8DC3-0FAEC016A643}">
      <dgm:prSet/>
      <dgm:spPr/>
      <dgm:t>
        <a:bodyPr/>
        <a:lstStyle/>
        <a:p>
          <a:endParaRPr lang="en-US"/>
        </a:p>
      </dgm:t>
    </dgm:pt>
    <dgm:pt modelId="{31BEDC6F-7144-4264-93B2-10AD9F3CD4F2}" type="sibTrans" cxnId="{BFE3A476-34C5-4CDF-8DC3-0FAEC016A643}">
      <dgm:prSet/>
      <dgm:spPr/>
      <dgm:t>
        <a:bodyPr/>
        <a:lstStyle/>
        <a:p>
          <a:endParaRPr lang="en-US"/>
        </a:p>
      </dgm:t>
    </dgm:pt>
    <dgm:pt modelId="{7A28D327-C03B-4655-A8A9-E6800305C016}">
      <dgm:prSet/>
      <dgm:spPr/>
      <dgm:t>
        <a:bodyPr/>
        <a:lstStyle/>
        <a:p>
          <a:r>
            <a:rPr lang="en-US" dirty="0" smtClean="0"/>
            <a:t>Android Application</a:t>
          </a:r>
          <a:endParaRPr lang="en-IN" dirty="0"/>
        </a:p>
      </dgm:t>
    </dgm:pt>
    <dgm:pt modelId="{69C60D5F-07BD-428D-AF52-54D3D2A1B185}" type="parTrans" cxnId="{D221E4BA-3441-47A1-9A52-35B6953089D3}">
      <dgm:prSet/>
      <dgm:spPr/>
      <dgm:t>
        <a:bodyPr/>
        <a:lstStyle/>
        <a:p>
          <a:endParaRPr lang="en-US"/>
        </a:p>
      </dgm:t>
    </dgm:pt>
    <dgm:pt modelId="{CC03786B-299E-48EF-806D-8C339337F7A2}" type="sibTrans" cxnId="{D221E4BA-3441-47A1-9A52-35B6953089D3}">
      <dgm:prSet/>
      <dgm:spPr/>
      <dgm:t>
        <a:bodyPr/>
        <a:lstStyle/>
        <a:p>
          <a:endParaRPr lang="en-US"/>
        </a:p>
      </dgm:t>
    </dgm:pt>
    <dgm:pt modelId="{8A7C13E5-68A2-4D95-9967-6000D14D91AC}">
      <dgm:prSet/>
      <dgm:spPr/>
      <dgm:t>
        <a:bodyPr/>
        <a:lstStyle/>
        <a:p>
          <a:r>
            <a:rPr lang="en-US" smtClean="0"/>
            <a:t>Firebase</a:t>
          </a:r>
          <a:endParaRPr lang="en-IN" dirty="0"/>
        </a:p>
      </dgm:t>
    </dgm:pt>
    <dgm:pt modelId="{1EFECC9D-A4B5-48FA-8840-C6828BD811E4}" type="parTrans" cxnId="{306FB7A7-6B7D-4F26-8254-15094B03660B}">
      <dgm:prSet/>
      <dgm:spPr/>
      <dgm:t>
        <a:bodyPr/>
        <a:lstStyle/>
        <a:p>
          <a:endParaRPr lang="en-US"/>
        </a:p>
      </dgm:t>
    </dgm:pt>
    <dgm:pt modelId="{E66A3D2C-284D-4F4B-8BE6-145546B5A2C8}" type="sibTrans" cxnId="{306FB7A7-6B7D-4F26-8254-15094B03660B}">
      <dgm:prSet/>
      <dgm:spPr/>
      <dgm:t>
        <a:bodyPr/>
        <a:lstStyle/>
        <a:p>
          <a:endParaRPr lang="en-US"/>
        </a:p>
      </dgm:t>
    </dgm:pt>
    <dgm:pt modelId="{57806726-6E60-4ACC-9C1C-7DF9CC365A10}" type="pres">
      <dgm:prSet presAssocID="{7E5AA53B-3EEE-4DE4-BB81-9044890C2946}" presName="Name0" presStyleCnt="0">
        <dgm:presLayoutVars>
          <dgm:chMax val="7"/>
          <dgm:chPref val="7"/>
          <dgm:dir/>
        </dgm:presLayoutVars>
      </dgm:prSet>
      <dgm:spPr/>
      <dgm:t>
        <a:bodyPr/>
        <a:lstStyle/>
        <a:p>
          <a:endParaRPr lang="en-US"/>
        </a:p>
      </dgm:t>
    </dgm:pt>
    <dgm:pt modelId="{90561C55-3C6E-4D53-85E1-2C50BCDDA392}" type="pres">
      <dgm:prSet presAssocID="{7E5AA53B-3EEE-4DE4-BB81-9044890C2946}" presName="Name1" presStyleCnt="0"/>
      <dgm:spPr/>
    </dgm:pt>
    <dgm:pt modelId="{B6CD42EC-5AD4-4004-AE5B-47EDA668DAA8}" type="pres">
      <dgm:prSet presAssocID="{7E5AA53B-3EEE-4DE4-BB81-9044890C2946}" presName="cycle" presStyleCnt="0"/>
      <dgm:spPr/>
    </dgm:pt>
    <dgm:pt modelId="{963B8EE3-40CC-4A0A-B420-D0BF920973CE}" type="pres">
      <dgm:prSet presAssocID="{7E5AA53B-3EEE-4DE4-BB81-9044890C2946}" presName="srcNode" presStyleLbl="node1" presStyleIdx="0" presStyleCnt="4"/>
      <dgm:spPr/>
    </dgm:pt>
    <dgm:pt modelId="{D79B43FC-100B-4A0D-A4D5-0D2D04B99064}" type="pres">
      <dgm:prSet presAssocID="{7E5AA53B-3EEE-4DE4-BB81-9044890C2946}" presName="conn" presStyleLbl="parChTrans1D2" presStyleIdx="0" presStyleCnt="1"/>
      <dgm:spPr/>
      <dgm:t>
        <a:bodyPr/>
        <a:lstStyle/>
        <a:p>
          <a:endParaRPr lang="en-US"/>
        </a:p>
      </dgm:t>
    </dgm:pt>
    <dgm:pt modelId="{3CAD8DA1-8D53-445C-ACE8-D8449E4F0F55}" type="pres">
      <dgm:prSet presAssocID="{7E5AA53B-3EEE-4DE4-BB81-9044890C2946}" presName="extraNode" presStyleLbl="node1" presStyleIdx="0" presStyleCnt="4"/>
      <dgm:spPr/>
    </dgm:pt>
    <dgm:pt modelId="{429CABD1-4116-474B-81BF-735E2CA9DD00}" type="pres">
      <dgm:prSet presAssocID="{7E5AA53B-3EEE-4DE4-BB81-9044890C2946}" presName="dstNode" presStyleLbl="node1" presStyleIdx="0" presStyleCnt="4"/>
      <dgm:spPr/>
    </dgm:pt>
    <dgm:pt modelId="{399F163D-B729-4B6D-A85F-49AB488875E6}" type="pres">
      <dgm:prSet presAssocID="{507A2FED-A517-4BC4-86BF-502123AE5225}" presName="text_1" presStyleLbl="node1" presStyleIdx="0" presStyleCnt="4">
        <dgm:presLayoutVars>
          <dgm:bulletEnabled val="1"/>
        </dgm:presLayoutVars>
      </dgm:prSet>
      <dgm:spPr/>
    </dgm:pt>
    <dgm:pt modelId="{408E546E-1D24-413F-BB8F-23D440DF1B14}" type="pres">
      <dgm:prSet presAssocID="{507A2FED-A517-4BC4-86BF-502123AE5225}" presName="accent_1" presStyleCnt="0"/>
      <dgm:spPr/>
    </dgm:pt>
    <dgm:pt modelId="{D72C76B9-553E-48EE-8402-C5E7AE621E0B}" type="pres">
      <dgm:prSet presAssocID="{507A2FED-A517-4BC4-86BF-502123AE5225}" presName="accentRepeatNode" presStyleLbl="solidFgAcc1" presStyleIdx="0" presStyleCnt="4"/>
      <dgm:spPr/>
    </dgm:pt>
    <dgm:pt modelId="{A7B1A7CE-96C4-4DD5-BEA1-FC85C6F01525}" type="pres">
      <dgm:prSet presAssocID="{183BC45C-7FD0-4DB6-96C1-F3967D5BDD35}" presName="text_2" presStyleLbl="node1" presStyleIdx="1" presStyleCnt="4">
        <dgm:presLayoutVars>
          <dgm:bulletEnabled val="1"/>
        </dgm:presLayoutVars>
      </dgm:prSet>
      <dgm:spPr/>
      <dgm:t>
        <a:bodyPr/>
        <a:lstStyle/>
        <a:p>
          <a:endParaRPr lang="en-US"/>
        </a:p>
      </dgm:t>
    </dgm:pt>
    <dgm:pt modelId="{3566A729-2E57-41CD-B332-BF78C447F5B8}" type="pres">
      <dgm:prSet presAssocID="{183BC45C-7FD0-4DB6-96C1-F3967D5BDD35}" presName="accent_2" presStyleCnt="0"/>
      <dgm:spPr/>
    </dgm:pt>
    <dgm:pt modelId="{91DAFF98-3099-439B-9DE1-5C93793EE1E4}" type="pres">
      <dgm:prSet presAssocID="{183BC45C-7FD0-4DB6-96C1-F3967D5BDD35}" presName="accentRepeatNode" presStyleLbl="solidFgAcc1" presStyleIdx="1" presStyleCnt="4"/>
      <dgm:spPr/>
    </dgm:pt>
    <dgm:pt modelId="{0F563672-600E-4AE4-9F60-F2A49FE3AA55}" type="pres">
      <dgm:prSet presAssocID="{7A28D327-C03B-4655-A8A9-E6800305C016}" presName="text_3" presStyleLbl="node1" presStyleIdx="2" presStyleCnt="4">
        <dgm:presLayoutVars>
          <dgm:bulletEnabled val="1"/>
        </dgm:presLayoutVars>
      </dgm:prSet>
      <dgm:spPr/>
      <dgm:t>
        <a:bodyPr/>
        <a:lstStyle/>
        <a:p>
          <a:endParaRPr lang="en-US"/>
        </a:p>
      </dgm:t>
    </dgm:pt>
    <dgm:pt modelId="{0B1DD164-D75A-4618-9DDF-696D4896C74E}" type="pres">
      <dgm:prSet presAssocID="{7A28D327-C03B-4655-A8A9-E6800305C016}" presName="accent_3" presStyleCnt="0"/>
      <dgm:spPr/>
    </dgm:pt>
    <dgm:pt modelId="{501DC368-04BE-4277-88E6-F810DD23B90C}" type="pres">
      <dgm:prSet presAssocID="{7A28D327-C03B-4655-A8A9-E6800305C016}" presName="accentRepeatNode" presStyleLbl="solidFgAcc1" presStyleIdx="2" presStyleCnt="4"/>
      <dgm:spPr/>
    </dgm:pt>
    <dgm:pt modelId="{1016159E-45AC-44DB-BD47-805790D2E127}" type="pres">
      <dgm:prSet presAssocID="{8A7C13E5-68A2-4D95-9967-6000D14D91AC}" presName="text_4" presStyleLbl="node1" presStyleIdx="3" presStyleCnt="4">
        <dgm:presLayoutVars>
          <dgm:bulletEnabled val="1"/>
        </dgm:presLayoutVars>
      </dgm:prSet>
      <dgm:spPr/>
      <dgm:t>
        <a:bodyPr/>
        <a:lstStyle/>
        <a:p>
          <a:endParaRPr lang="en-US"/>
        </a:p>
      </dgm:t>
    </dgm:pt>
    <dgm:pt modelId="{9D2F697E-AAC7-4BC9-A3E0-B7975EC6AFBC}" type="pres">
      <dgm:prSet presAssocID="{8A7C13E5-68A2-4D95-9967-6000D14D91AC}" presName="accent_4" presStyleCnt="0"/>
      <dgm:spPr/>
    </dgm:pt>
    <dgm:pt modelId="{95EDE6E8-0A26-4772-A16E-23FA53178392}" type="pres">
      <dgm:prSet presAssocID="{8A7C13E5-68A2-4D95-9967-6000D14D91AC}" presName="accentRepeatNode" presStyleLbl="solidFgAcc1" presStyleIdx="3" presStyleCnt="4"/>
      <dgm:spPr/>
    </dgm:pt>
  </dgm:ptLst>
  <dgm:cxnLst>
    <dgm:cxn modelId="{306FB7A7-6B7D-4F26-8254-15094B03660B}" srcId="{7E5AA53B-3EEE-4DE4-BB81-9044890C2946}" destId="{8A7C13E5-68A2-4D95-9967-6000D14D91AC}" srcOrd="3" destOrd="0" parTransId="{1EFECC9D-A4B5-48FA-8840-C6828BD811E4}" sibTransId="{E66A3D2C-284D-4F4B-8BE6-145546B5A2C8}"/>
    <dgm:cxn modelId="{B09754CB-3836-4E1F-B72A-5D0477B1CDF0}" srcId="{7E5AA53B-3EEE-4DE4-BB81-9044890C2946}" destId="{507A2FED-A517-4BC4-86BF-502123AE5225}" srcOrd="0" destOrd="0" parTransId="{C604BADB-F291-4E93-A2ED-8190FFAAC73B}" sibTransId="{A0BC805A-7D15-46D3-B1E1-5BD9889F136C}"/>
    <dgm:cxn modelId="{9FED77DF-5981-4A60-90E5-B1B8E1D23D9E}" type="presOf" srcId="{8A7C13E5-68A2-4D95-9967-6000D14D91AC}" destId="{1016159E-45AC-44DB-BD47-805790D2E127}" srcOrd="0" destOrd="0" presId="urn:microsoft.com/office/officeart/2008/layout/VerticalCurvedList"/>
    <dgm:cxn modelId="{65AD0A3E-9181-41F3-83B2-C56C33280C1A}" type="presOf" srcId="{A0BC805A-7D15-46D3-B1E1-5BD9889F136C}" destId="{D79B43FC-100B-4A0D-A4D5-0D2D04B99064}" srcOrd="0" destOrd="0" presId="urn:microsoft.com/office/officeart/2008/layout/VerticalCurvedList"/>
    <dgm:cxn modelId="{BFE3A476-34C5-4CDF-8DC3-0FAEC016A643}" srcId="{7E5AA53B-3EEE-4DE4-BB81-9044890C2946}" destId="{183BC45C-7FD0-4DB6-96C1-F3967D5BDD35}" srcOrd="1" destOrd="0" parTransId="{3E5B482B-2E6F-49F0-B9C4-220F9ABD291A}" sibTransId="{31BEDC6F-7144-4264-93B2-10AD9F3CD4F2}"/>
    <dgm:cxn modelId="{4F65CC8F-B5A8-40BE-A32B-05862B543D6A}" type="presOf" srcId="{7E5AA53B-3EEE-4DE4-BB81-9044890C2946}" destId="{57806726-6E60-4ACC-9C1C-7DF9CC365A10}" srcOrd="0" destOrd="0" presId="urn:microsoft.com/office/officeart/2008/layout/VerticalCurvedList"/>
    <dgm:cxn modelId="{9B53A217-98EF-488F-9630-AE53047E4AF1}" type="presOf" srcId="{7A28D327-C03B-4655-A8A9-E6800305C016}" destId="{0F563672-600E-4AE4-9F60-F2A49FE3AA55}" srcOrd="0" destOrd="0" presId="urn:microsoft.com/office/officeart/2008/layout/VerticalCurvedList"/>
    <dgm:cxn modelId="{D221E4BA-3441-47A1-9A52-35B6953089D3}" srcId="{7E5AA53B-3EEE-4DE4-BB81-9044890C2946}" destId="{7A28D327-C03B-4655-A8A9-E6800305C016}" srcOrd="2" destOrd="0" parTransId="{69C60D5F-07BD-428D-AF52-54D3D2A1B185}" sibTransId="{CC03786B-299E-48EF-806D-8C339337F7A2}"/>
    <dgm:cxn modelId="{9C13EB82-BF27-4136-B343-E5F16B5AA968}" type="presOf" srcId="{507A2FED-A517-4BC4-86BF-502123AE5225}" destId="{399F163D-B729-4B6D-A85F-49AB488875E6}" srcOrd="0" destOrd="0" presId="urn:microsoft.com/office/officeart/2008/layout/VerticalCurvedList"/>
    <dgm:cxn modelId="{A31C8300-C113-44EB-AA08-494CBE13BBE4}" type="presOf" srcId="{183BC45C-7FD0-4DB6-96C1-F3967D5BDD35}" destId="{A7B1A7CE-96C4-4DD5-BEA1-FC85C6F01525}" srcOrd="0" destOrd="0" presId="urn:microsoft.com/office/officeart/2008/layout/VerticalCurvedList"/>
    <dgm:cxn modelId="{4E25B52E-70EF-4A0F-B410-0B49263AF380}" type="presParOf" srcId="{57806726-6E60-4ACC-9C1C-7DF9CC365A10}" destId="{90561C55-3C6E-4D53-85E1-2C50BCDDA392}" srcOrd="0" destOrd="0" presId="urn:microsoft.com/office/officeart/2008/layout/VerticalCurvedList"/>
    <dgm:cxn modelId="{2B3DD9E4-EC9C-4B92-B380-F89BF82E7CF3}" type="presParOf" srcId="{90561C55-3C6E-4D53-85E1-2C50BCDDA392}" destId="{B6CD42EC-5AD4-4004-AE5B-47EDA668DAA8}" srcOrd="0" destOrd="0" presId="urn:microsoft.com/office/officeart/2008/layout/VerticalCurvedList"/>
    <dgm:cxn modelId="{EA357085-80A4-4D1D-9BD2-56B1E9A721FB}" type="presParOf" srcId="{B6CD42EC-5AD4-4004-AE5B-47EDA668DAA8}" destId="{963B8EE3-40CC-4A0A-B420-D0BF920973CE}" srcOrd="0" destOrd="0" presId="urn:microsoft.com/office/officeart/2008/layout/VerticalCurvedList"/>
    <dgm:cxn modelId="{F175C6D0-411C-40FD-A19B-860D49F42061}" type="presParOf" srcId="{B6CD42EC-5AD4-4004-AE5B-47EDA668DAA8}" destId="{D79B43FC-100B-4A0D-A4D5-0D2D04B99064}" srcOrd="1" destOrd="0" presId="urn:microsoft.com/office/officeart/2008/layout/VerticalCurvedList"/>
    <dgm:cxn modelId="{794BB944-68C0-47A5-9792-652802EB36AC}" type="presParOf" srcId="{B6CD42EC-5AD4-4004-AE5B-47EDA668DAA8}" destId="{3CAD8DA1-8D53-445C-ACE8-D8449E4F0F55}" srcOrd="2" destOrd="0" presId="urn:microsoft.com/office/officeart/2008/layout/VerticalCurvedList"/>
    <dgm:cxn modelId="{B8CC75C4-3D1A-49E7-80D2-915668C1368C}" type="presParOf" srcId="{B6CD42EC-5AD4-4004-AE5B-47EDA668DAA8}" destId="{429CABD1-4116-474B-81BF-735E2CA9DD00}" srcOrd="3" destOrd="0" presId="urn:microsoft.com/office/officeart/2008/layout/VerticalCurvedList"/>
    <dgm:cxn modelId="{55B925C5-0365-4F34-ADDF-A7BD4AD47B42}" type="presParOf" srcId="{90561C55-3C6E-4D53-85E1-2C50BCDDA392}" destId="{399F163D-B729-4B6D-A85F-49AB488875E6}" srcOrd="1" destOrd="0" presId="urn:microsoft.com/office/officeart/2008/layout/VerticalCurvedList"/>
    <dgm:cxn modelId="{AEA14A16-28C8-4869-9FD4-0D8F80CEAD31}" type="presParOf" srcId="{90561C55-3C6E-4D53-85E1-2C50BCDDA392}" destId="{408E546E-1D24-413F-BB8F-23D440DF1B14}" srcOrd="2" destOrd="0" presId="urn:microsoft.com/office/officeart/2008/layout/VerticalCurvedList"/>
    <dgm:cxn modelId="{4B4D2C91-B27A-4595-B14A-AF5143C7D8EB}" type="presParOf" srcId="{408E546E-1D24-413F-BB8F-23D440DF1B14}" destId="{D72C76B9-553E-48EE-8402-C5E7AE621E0B}" srcOrd="0" destOrd="0" presId="urn:microsoft.com/office/officeart/2008/layout/VerticalCurvedList"/>
    <dgm:cxn modelId="{B7E62C8D-CFEF-4E55-A1AE-B861504408FA}" type="presParOf" srcId="{90561C55-3C6E-4D53-85E1-2C50BCDDA392}" destId="{A7B1A7CE-96C4-4DD5-BEA1-FC85C6F01525}" srcOrd="3" destOrd="0" presId="urn:microsoft.com/office/officeart/2008/layout/VerticalCurvedList"/>
    <dgm:cxn modelId="{D2D5395E-D5DB-4305-897C-37940A31A4C7}" type="presParOf" srcId="{90561C55-3C6E-4D53-85E1-2C50BCDDA392}" destId="{3566A729-2E57-41CD-B332-BF78C447F5B8}" srcOrd="4" destOrd="0" presId="urn:microsoft.com/office/officeart/2008/layout/VerticalCurvedList"/>
    <dgm:cxn modelId="{1082C994-ED12-49B4-A07D-AD77338EF7A4}" type="presParOf" srcId="{3566A729-2E57-41CD-B332-BF78C447F5B8}" destId="{91DAFF98-3099-439B-9DE1-5C93793EE1E4}" srcOrd="0" destOrd="0" presId="urn:microsoft.com/office/officeart/2008/layout/VerticalCurvedList"/>
    <dgm:cxn modelId="{8D635E09-7281-436F-999D-7FBB8A46A772}" type="presParOf" srcId="{90561C55-3C6E-4D53-85E1-2C50BCDDA392}" destId="{0F563672-600E-4AE4-9F60-F2A49FE3AA55}" srcOrd="5" destOrd="0" presId="urn:microsoft.com/office/officeart/2008/layout/VerticalCurvedList"/>
    <dgm:cxn modelId="{6957E4E6-2498-4DD8-9936-96EE512DBC98}" type="presParOf" srcId="{90561C55-3C6E-4D53-85E1-2C50BCDDA392}" destId="{0B1DD164-D75A-4618-9DDF-696D4896C74E}" srcOrd="6" destOrd="0" presId="urn:microsoft.com/office/officeart/2008/layout/VerticalCurvedList"/>
    <dgm:cxn modelId="{8AB6FAF0-A974-40E0-A7E4-167E816B1D28}" type="presParOf" srcId="{0B1DD164-D75A-4618-9DDF-696D4896C74E}" destId="{501DC368-04BE-4277-88E6-F810DD23B90C}" srcOrd="0" destOrd="0" presId="urn:microsoft.com/office/officeart/2008/layout/VerticalCurvedList"/>
    <dgm:cxn modelId="{46E62023-31D6-44F5-9537-4C253CADA101}" type="presParOf" srcId="{90561C55-3C6E-4D53-85E1-2C50BCDDA392}" destId="{1016159E-45AC-44DB-BD47-805790D2E127}" srcOrd="7" destOrd="0" presId="urn:microsoft.com/office/officeart/2008/layout/VerticalCurvedList"/>
    <dgm:cxn modelId="{779CFF40-386B-4A57-A4A0-93F01C7B9374}" type="presParOf" srcId="{90561C55-3C6E-4D53-85E1-2C50BCDDA392}" destId="{9D2F697E-AAC7-4BC9-A3E0-B7975EC6AFBC}" srcOrd="8" destOrd="0" presId="urn:microsoft.com/office/officeart/2008/layout/VerticalCurvedList"/>
    <dgm:cxn modelId="{E4645335-5CB3-4E7E-92E4-F59BD7129845}" type="presParOf" srcId="{9D2F697E-AAC7-4BC9-A3E0-B7975EC6AFBC}" destId="{95EDE6E8-0A26-4772-A16E-23FA53178392}" srcOrd="0" destOrd="0" presId="urn:microsoft.com/office/officeart/2008/layout/VerticalCurv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9B43FC-100B-4A0D-A4D5-0D2D04B99064}">
      <dsp:nvSpPr>
        <dsp:cNvPr id="0" name=""/>
        <dsp:cNvSpPr/>
      </dsp:nvSpPr>
      <dsp:spPr>
        <a:xfrm>
          <a:off x="-4028574" y="-618397"/>
          <a:ext cx="4800732" cy="4800732"/>
        </a:xfrm>
        <a:prstGeom prst="blockArc">
          <a:avLst>
            <a:gd name="adj1" fmla="val 18900000"/>
            <a:gd name="adj2" fmla="val 2700000"/>
            <a:gd name="adj3" fmla="val 450"/>
          </a:avLst>
        </a:prstGeom>
        <a:noFill/>
        <a:ln w="12700" cap="rnd" cmpd="sng" algn="ctr">
          <a:solidFill>
            <a:schemeClr val="accent2">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399F163D-B729-4B6D-A85F-49AB488875E6}">
      <dsp:nvSpPr>
        <dsp:cNvPr id="0" name=""/>
        <dsp:cNvSpPr/>
      </dsp:nvSpPr>
      <dsp:spPr>
        <a:xfrm>
          <a:off x="404618" y="273995"/>
          <a:ext cx="6509481"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3180" rIns="43180" bIns="43180" numCol="1" spcCol="1270" anchor="ctr" anchorCtr="0">
          <a:noAutofit/>
        </a:bodyPr>
        <a:lstStyle/>
        <a:p>
          <a:pPr lvl="0" algn="l" defTabSz="755650">
            <a:lnSpc>
              <a:spcPct val="90000"/>
            </a:lnSpc>
            <a:spcBef>
              <a:spcPct val="0"/>
            </a:spcBef>
            <a:spcAft>
              <a:spcPct val="35000"/>
            </a:spcAft>
          </a:pPr>
          <a:r>
            <a:rPr lang="en-US" sz="1700" kern="1200" dirty="0" smtClean="0"/>
            <a:t>IR- Infra-Red.</a:t>
          </a:r>
          <a:endParaRPr lang="en-IN" sz="1700" kern="1200" dirty="0"/>
        </a:p>
      </dsp:txBody>
      <dsp:txXfrm>
        <a:off x="404618" y="273995"/>
        <a:ext cx="6509481" cy="548276"/>
      </dsp:txXfrm>
    </dsp:sp>
    <dsp:sp modelId="{D72C76B9-553E-48EE-8402-C5E7AE621E0B}">
      <dsp:nvSpPr>
        <dsp:cNvPr id="0" name=""/>
        <dsp:cNvSpPr/>
      </dsp:nvSpPr>
      <dsp:spPr>
        <a:xfrm>
          <a:off x="61946" y="205461"/>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A7B1A7CE-96C4-4DD5-BEA1-FC85C6F01525}">
      <dsp:nvSpPr>
        <dsp:cNvPr id="0" name=""/>
        <dsp:cNvSpPr/>
      </dsp:nvSpPr>
      <dsp:spPr>
        <a:xfrm>
          <a:off x="718958" y="1096552"/>
          <a:ext cx="6195142"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3180" rIns="43180" bIns="43180" numCol="1" spcCol="1270" anchor="ctr" anchorCtr="0">
          <a:noAutofit/>
        </a:bodyPr>
        <a:lstStyle/>
        <a:p>
          <a:pPr lvl="0" algn="l" defTabSz="755650">
            <a:lnSpc>
              <a:spcPct val="90000"/>
            </a:lnSpc>
            <a:spcBef>
              <a:spcPct val="0"/>
            </a:spcBef>
            <a:spcAft>
              <a:spcPct val="35000"/>
            </a:spcAft>
          </a:pPr>
          <a:r>
            <a:rPr lang="en-US" sz="1700" kern="1200" smtClean="0"/>
            <a:t>Pulse sensor- measures the pulse and creates a graph on the android application.</a:t>
          </a:r>
          <a:endParaRPr lang="en-IN" sz="1700" kern="1200" dirty="0"/>
        </a:p>
      </dsp:txBody>
      <dsp:txXfrm>
        <a:off x="718958" y="1096552"/>
        <a:ext cx="6195142" cy="548276"/>
      </dsp:txXfrm>
    </dsp:sp>
    <dsp:sp modelId="{91DAFF98-3099-439B-9DE1-5C93793EE1E4}">
      <dsp:nvSpPr>
        <dsp:cNvPr id="0" name=""/>
        <dsp:cNvSpPr/>
      </dsp:nvSpPr>
      <dsp:spPr>
        <a:xfrm>
          <a:off x="376285" y="1028017"/>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0F563672-600E-4AE4-9F60-F2A49FE3AA55}">
      <dsp:nvSpPr>
        <dsp:cNvPr id="0" name=""/>
        <dsp:cNvSpPr/>
      </dsp:nvSpPr>
      <dsp:spPr>
        <a:xfrm>
          <a:off x="718958" y="1919109"/>
          <a:ext cx="6195142"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3180" rIns="43180" bIns="43180" numCol="1" spcCol="1270" anchor="ctr" anchorCtr="0">
          <a:noAutofit/>
        </a:bodyPr>
        <a:lstStyle/>
        <a:p>
          <a:pPr lvl="0" algn="l" defTabSz="755650">
            <a:lnSpc>
              <a:spcPct val="90000"/>
            </a:lnSpc>
            <a:spcBef>
              <a:spcPct val="0"/>
            </a:spcBef>
            <a:spcAft>
              <a:spcPct val="35000"/>
            </a:spcAft>
          </a:pPr>
          <a:r>
            <a:rPr lang="en-US" sz="1700" kern="1200" dirty="0" smtClean="0"/>
            <a:t>Android Application</a:t>
          </a:r>
          <a:endParaRPr lang="en-IN" sz="1700" kern="1200" dirty="0"/>
        </a:p>
      </dsp:txBody>
      <dsp:txXfrm>
        <a:off x="718958" y="1919109"/>
        <a:ext cx="6195142" cy="548276"/>
      </dsp:txXfrm>
    </dsp:sp>
    <dsp:sp modelId="{501DC368-04BE-4277-88E6-F810DD23B90C}">
      <dsp:nvSpPr>
        <dsp:cNvPr id="0" name=""/>
        <dsp:cNvSpPr/>
      </dsp:nvSpPr>
      <dsp:spPr>
        <a:xfrm>
          <a:off x="376285" y="1850574"/>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1016159E-45AC-44DB-BD47-805790D2E127}">
      <dsp:nvSpPr>
        <dsp:cNvPr id="0" name=""/>
        <dsp:cNvSpPr/>
      </dsp:nvSpPr>
      <dsp:spPr>
        <a:xfrm>
          <a:off x="404618" y="2741666"/>
          <a:ext cx="6509481" cy="548276"/>
        </a:xfrm>
        <a:prstGeom prst="rect">
          <a:avLst/>
        </a:prstGeom>
        <a:gradFill rotWithShape="0">
          <a:gsLst>
            <a:gs pos="0">
              <a:schemeClr val="accent2">
                <a:hueOff val="0"/>
                <a:satOff val="0"/>
                <a:lumOff val="0"/>
                <a:alphaOff val="0"/>
                <a:tint val="98000"/>
                <a:lumMod val="110000"/>
              </a:schemeClr>
            </a:gs>
            <a:gs pos="84000">
              <a:schemeClr val="accent2">
                <a:hueOff val="0"/>
                <a:satOff val="0"/>
                <a:lumOff val="0"/>
                <a:alphaOff val="0"/>
                <a:shade val="90000"/>
                <a:lumMod val="88000"/>
              </a:schemeClr>
            </a:gs>
          </a:gsLst>
          <a:lin ang="5400000" scaled="0"/>
        </a:gradFill>
        <a:ln>
          <a:noFill/>
        </a:ln>
        <a:effectLst>
          <a:outerShdw blurRad="38100" dist="25400" dir="5400000" rotWithShape="0">
            <a:srgbClr val="000000">
              <a:alpha val="5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5194" tIns="43180" rIns="43180" bIns="43180" numCol="1" spcCol="1270" anchor="ctr" anchorCtr="0">
          <a:noAutofit/>
        </a:bodyPr>
        <a:lstStyle/>
        <a:p>
          <a:pPr lvl="0" algn="l" defTabSz="755650">
            <a:lnSpc>
              <a:spcPct val="90000"/>
            </a:lnSpc>
            <a:spcBef>
              <a:spcPct val="0"/>
            </a:spcBef>
            <a:spcAft>
              <a:spcPct val="35000"/>
            </a:spcAft>
          </a:pPr>
          <a:r>
            <a:rPr lang="en-US" sz="1700" kern="1200" smtClean="0"/>
            <a:t>Firebase</a:t>
          </a:r>
          <a:endParaRPr lang="en-IN" sz="1700" kern="1200" dirty="0"/>
        </a:p>
      </dsp:txBody>
      <dsp:txXfrm>
        <a:off x="404618" y="2741666"/>
        <a:ext cx="6509481" cy="548276"/>
      </dsp:txXfrm>
    </dsp:sp>
    <dsp:sp modelId="{95EDE6E8-0A26-4772-A16E-23FA53178392}">
      <dsp:nvSpPr>
        <dsp:cNvPr id="0" name=""/>
        <dsp:cNvSpPr/>
      </dsp:nvSpPr>
      <dsp:spPr>
        <a:xfrm>
          <a:off x="61946" y="2673131"/>
          <a:ext cx="685345" cy="685345"/>
        </a:xfrm>
        <a:prstGeom prst="ellipse">
          <a:avLst/>
        </a:prstGeom>
        <a:solidFill>
          <a:schemeClr val="lt1">
            <a:hueOff val="0"/>
            <a:satOff val="0"/>
            <a:lumOff val="0"/>
            <a:alphaOff val="0"/>
          </a:schemeClr>
        </a:solidFill>
        <a:ln w="12700" cap="rnd"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B61BEF0D-F0BB-DE4B-95CE-6DB70DBA9567}" type="datetimeFigureOut">
              <a:rPr lang="en-US" smtClean="0"/>
              <a:pPr/>
              <a:t>4/10/2019</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03018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39981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4/10/2019</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9290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87167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4/10/2019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8574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B61BEF0D-F0BB-DE4B-95CE-6DB70DBA9567}" type="datetimeFigureOut">
              <a:rPr lang="en-US" smtClean="0"/>
              <a:pPr/>
              <a:t>4/10/2019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11643182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4/10/2019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12690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B61BEF0D-F0BB-DE4B-95CE-6DB70DBA9567}" type="datetimeFigureOut">
              <a:rPr lang="en-US" smtClean="0"/>
              <a:pPr/>
              <a:t>4/10/2019</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3296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4/10/2019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808037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4/10/2019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547011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B61BEF0D-F0BB-DE4B-95CE-6DB70DBA9567}" type="datetimeFigureOut">
              <a:rPr lang="en-US" smtClean="0"/>
              <a:pPr/>
              <a:t>4/10/2019</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91526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B61BEF0D-F0BB-DE4B-95CE-6DB70DBA9567}" type="datetimeFigureOut">
              <a:rPr lang="en-US" smtClean="0"/>
              <a:pPr/>
              <a:t>4/10/2019</a:t>
            </a:fld>
            <a:endParaRPr lang="en-US"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8285554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493D4EDA-58E0-40CC-B3CA-14CDEB349D24}"/>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Digital Connections">
            <a:extLst>
              <a:ext uri="{FF2B5EF4-FFF2-40B4-BE49-F238E27FC236}">
                <a16:creationId xmlns:a16="http://schemas.microsoft.com/office/drawing/2014/main" id="{3840F91C-EDD0-4D4E-A4AB-E6C77856C88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13265" t="9091" r="3502" b="-1"/>
          <a:stretch/>
        </p:blipFill>
        <p:spPr>
          <a:xfrm>
            <a:off x="20" y="10"/>
            <a:ext cx="12191980" cy="6857990"/>
          </a:xfrm>
          <a:prstGeom prst="rect">
            <a:avLst/>
          </a:prstGeom>
        </p:spPr>
      </p:pic>
      <p:grpSp>
        <p:nvGrpSpPr>
          <p:cNvPr id="17" name="Group 16">
            <a:extLst>
              <a:ext uri="{FF2B5EF4-FFF2-40B4-BE49-F238E27FC236}">
                <a16:creationId xmlns:a16="http://schemas.microsoft.com/office/drawing/2014/main" id="{AA9EB0BC-A85E-4C26-B355-5DFCEF6CCB49}"/>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8" name="Rectangle 17">
              <a:extLst>
                <a:ext uri="{FF2B5EF4-FFF2-40B4-BE49-F238E27FC236}">
                  <a16:creationId xmlns:a16="http://schemas.microsoft.com/office/drawing/2014/main" id="{3643E56B-BD42-413D-B17D-7958270F5DE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9" name="Rectangle 18">
              <a:extLst>
                <a:ext uri="{FF2B5EF4-FFF2-40B4-BE49-F238E27FC236}">
                  <a16:creationId xmlns:a16="http://schemas.microsoft.com/office/drawing/2014/main" id="{96C04F74-9467-4FA5-95DC-8D481A29740E}"/>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20" name="Rectangle 19">
              <a:extLst>
                <a:ext uri="{FF2B5EF4-FFF2-40B4-BE49-F238E27FC236}">
                  <a16:creationId xmlns:a16="http://schemas.microsoft.com/office/drawing/2014/main" id="{D73DE1C3-5C37-42E9-A3F0-256F1938327C}"/>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2" name="Rectangle 21">
            <a:extLst>
              <a:ext uri="{FF2B5EF4-FFF2-40B4-BE49-F238E27FC236}">
                <a16:creationId xmlns:a16="http://schemas.microsoft.com/office/drawing/2014/main" id="{4A2E7EC3-E07C-46CE-9B25-41865A50681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732" y="4428067"/>
            <a:ext cx="11260667" cy="1962497"/>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6" name="Rectangle 5"/>
          <p:cNvSpPr/>
          <p:nvPr/>
        </p:nvSpPr>
        <p:spPr>
          <a:xfrm>
            <a:off x="446534" y="3278777"/>
            <a:ext cx="11262865" cy="31117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itle 1">
            <a:extLst>
              <a:ext uri="{FF2B5EF4-FFF2-40B4-BE49-F238E27FC236}">
                <a16:creationId xmlns:a16="http://schemas.microsoft.com/office/drawing/2014/main" id="{C02C5318-1A1E-49D0-B2E2-A4B0FA9E8A40}"/>
              </a:ext>
            </a:extLst>
          </p:cNvPr>
          <p:cNvSpPr txBox="1">
            <a:spLocks/>
          </p:cNvSpPr>
          <p:nvPr/>
        </p:nvSpPr>
        <p:spPr>
          <a:xfrm>
            <a:off x="581191" y="3618367"/>
            <a:ext cx="10993549" cy="764296"/>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3600" b="0" kern="1200" cap="all">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800" smtClean="0">
                <a:solidFill>
                  <a:schemeClr val="bg1"/>
                </a:solidFill>
              </a:rPr>
              <a:t>Smart Pill Box</a:t>
            </a:r>
            <a:endParaRPr lang="en-US" sz="4800" dirty="0">
              <a:solidFill>
                <a:schemeClr val="bg1"/>
              </a:solidFill>
            </a:endParaRPr>
          </a:p>
        </p:txBody>
      </p:sp>
      <p:sp>
        <p:nvSpPr>
          <p:cNvPr id="16" name="Subtitle 2">
            <a:extLst>
              <a:ext uri="{FF2B5EF4-FFF2-40B4-BE49-F238E27FC236}">
                <a16:creationId xmlns:a16="http://schemas.microsoft.com/office/drawing/2014/main" id="{48B6CF59-4E5B-494D-A2F7-97ADD01E6497}"/>
              </a:ext>
            </a:extLst>
          </p:cNvPr>
          <p:cNvSpPr txBox="1">
            <a:spLocks/>
          </p:cNvSpPr>
          <p:nvPr/>
        </p:nvSpPr>
        <p:spPr>
          <a:xfrm>
            <a:off x="596717" y="4658907"/>
            <a:ext cx="10993546" cy="1545950"/>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r>
              <a:rPr lang="en-US" dirty="0" smtClean="0">
                <a:solidFill>
                  <a:srgbClr val="7CEBFF"/>
                </a:solidFill>
              </a:rPr>
              <a:t>By  </a:t>
            </a:r>
          </a:p>
          <a:p>
            <a:r>
              <a:rPr lang="en-US" dirty="0" smtClean="0">
                <a:solidFill>
                  <a:srgbClr val="7CEBFF"/>
                </a:solidFill>
              </a:rPr>
              <a:t>Sourabh Sarkar, </a:t>
            </a:r>
          </a:p>
          <a:p>
            <a:r>
              <a:rPr lang="en-US" dirty="0" smtClean="0">
                <a:solidFill>
                  <a:srgbClr val="7CEBFF"/>
                </a:solidFill>
              </a:rPr>
              <a:t>Srijita Gayen, </a:t>
            </a:r>
          </a:p>
          <a:p>
            <a:r>
              <a:rPr lang="en-US" dirty="0" smtClean="0">
                <a:solidFill>
                  <a:srgbClr val="7CEBFF"/>
                </a:solidFill>
              </a:rPr>
              <a:t>Prena Singh  </a:t>
            </a:r>
            <a:endParaRPr lang="en-US" dirty="0">
              <a:solidFill>
                <a:srgbClr val="7CEBFF"/>
              </a:solidFill>
            </a:endParaRPr>
          </a:p>
        </p:txBody>
      </p:sp>
    </p:spTree>
    <p:extLst>
      <p:ext uri="{BB962C8B-B14F-4D97-AF65-F5344CB8AC3E}">
        <p14:creationId xmlns:p14="http://schemas.microsoft.com/office/powerpoint/2010/main" val="1487700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040558-A365-4CCE-92FA-5A48CD98F9C9}"/>
              </a:ext>
            </a:extLst>
          </p:cNvPr>
          <p:cNvSpPr>
            <a:spLocks noGrp="1"/>
          </p:cNvSpPr>
          <p:nvPr>
            <p:ph type="title"/>
          </p:nvPr>
        </p:nvSpPr>
        <p:spPr>
          <a:xfrm>
            <a:off x="581192" y="702156"/>
            <a:ext cx="11029616" cy="1013800"/>
          </a:xfrm>
        </p:spPr>
        <p:txBody>
          <a:bodyPr>
            <a:normAutofit/>
          </a:bodyPr>
          <a:lstStyle/>
          <a:p>
            <a:r>
              <a:rPr lang="en-US" dirty="0" smtClean="0">
                <a:solidFill>
                  <a:srgbClr val="FFFEFF"/>
                </a:solidFill>
              </a:rPr>
              <a:t>Presentation Outline</a:t>
            </a:r>
            <a:endParaRPr lang="en-US" dirty="0">
              <a:solidFill>
                <a:srgbClr val="FFFEFF"/>
              </a:solidFill>
            </a:endParaRPr>
          </a:p>
        </p:txBody>
      </p:sp>
      <p:sp>
        <p:nvSpPr>
          <p:cNvPr id="3" name="Content Placeholder 2"/>
          <p:cNvSpPr>
            <a:spLocks noGrp="1"/>
          </p:cNvSpPr>
          <p:nvPr>
            <p:ph idx="1"/>
          </p:nvPr>
        </p:nvSpPr>
        <p:spPr/>
        <p:txBody>
          <a:bodyPr>
            <a:normAutofit/>
          </a:bodyPr>
          <a:lstStyle/>
          <a:p>
            <a:r>
              <a:rPr lang="en-US" dirty="0" smtClean="0"/>
              <a:t>Introduction</a:t>
            </a:r>
          </a:p>
          <a:p>
            <a:r>
              <a:rPr lang="en-US" dirty="0" smtClean="0"/>
              <a:t>Block Diagram</a:t>
            </a:r>
          </a:p>
          <a:p>
            <a:r>
              <a:rPr lang="en-US" dirty="0" smtClean="0"/>
              <a:t>Components Used</a:t>
            </a:r>
          </a:p>
          <a:p>
            <a:r>
              <a:rPr lang="en-US" dirty="0" smtClean="0"/>
              <a:t>Working and Prototype</a:t>
            </a:r>
          </a:p>
          <a:p>
            <a:r>
              <a:rPr lang="en-US" dirty="0" smtClean="0"/>
              <a:t>Advantage and application </a:t>
            </a:r>
            <a:endParaRPr lang="en-US" dirty="0"/>
          </a:p>
        </p:txBody>
      </p:sp>
    </p:spTree>
    <p:extLst>
      <p:ext uri="{BB962C8B-B14F-4D97-AF65-F5344CB8AC3E}">
        <p14:creationId xmlns:p14="http://schemas.microsoft.com/office/powerpoint/2010/main" val="17033425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1633EB-7DCB-4DDC-80AF-C885A3EE1245}"/>
              </a:ext>
            </a:extLst>
          </p:cNvPr>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sz="half" idx="1"/>
          </p:nvPr>
        </p:nvSpPr>
        <p:spPr>
          <a:xfrm>
            <a:off x="581193" y="2228003"/>
            <a:ext cx="11029616" cy="3633047"/>
          </a:xfrm>
        </p:spPr>
        <p:txBody>
          <a:bodyPr/>
          <a:lstStyle/>
          <a:p>
            <a:r>
              <a:rPr lang="en-US" dirty="0"/>
              <a:t>This pill box encourages the client to stay healthy by reminding the patient’s pill dose. Its motivation is to educate the client about:  -</a:t>
            </a:r>
            <a:endParaRPr lang="en-IN" dirty="0"/>
          </a:p>
          <a:p>
            <a:pPr lvl="2"/>
            <a:r>
              <a:rPr lang="en-US" dirty="0"/>
              <a:t>Whether the patient has taken out the pill from the pill box at the correct time or not.</a:t>
            </a:r>
            <a:endParaRPr lang="en-IN" sz="1200" dirty="0"/>
          </a:p>
          <a:p>
            <a:pPr lvl="2"/>
            <a:r>
              <a:rPr lang="en-US" dirty="0"/>
              <a:t>Informs when the pill box gets vacant.</a:t>
            </a:r>
            <a:endParaRPr lang="en-IN" sz="1200" dirty="0"/>
          </a:p>
          <a:p>
            <a:pPr lvl="2"/>
            <a:r>
              <a:rPr lang="en-US" dirty="0"/>
              <a:t>Checks the blood pressure and creates a graph in the android  application.</a:t>
            </a:r>
            <a:endParaRPr lang="en-IN" sz="1200" dirty="0"/>
          </a:p>
          <a:p>
            <a:pPr lvl="2"/>
            <a:r>
              <a:rPr lang="en-US" dirty="0"/>
              <a:t>Shows all the hospital, medical stores and blood donation </a:t>
            </a:r>
            <a:r>
              <a:rPr lang="en-US" dirty="0" err="1"/>
              <a:t>centres</a:t>
            </a:r>
            <a:r>
              <a:rPr lang="en-US" dirty="0"/>
              <a:t>.</a:t>
            </a:r>
            <a:endParaRPr lang="en-IN" sz="1200" dirty="0"/>
          </a:p>
          <a:p>
            <a:pPr lvl="2"/>
            <a:r>
              <a:rPr lang="en-US" dirty="0"/>
              <a:t>A person can set timer alerts by pre-setting.</a:t>
            </a:r>
            <a:endParaRPr lang="en-IN" sz="1200" dirty="0"/>
          </a:p>
          <a:p>
            <a:endParaRPr lang="en-IN" dirty="0"/>
          </a:p>
        </p:txBody>
      </p:sp>
    </p:spTree>
    <p:extLst>
      <p:ext uri="{BB962C8B-B14F-4D97-AF65-F5344CB8AC3E}">
        <p14:creationId xmlns:p14="http://schemas.microsoft.com/office/powerpoint/2010/main" val="4976075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AE9D071-98CF-435C-BD2B-976514544DC5}"/>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Content Placeholder 4" descr="Digital Numbers">
            <a:extLst>
              <a:ext uri="{FF2B5EF4-FFF2-40B4-BE49-F238E27FC236}">
                <a16:creationId xmlns:a16="http://schemas.microsoft.com/office/drawing/2014/main" id="{EA70616B-E344-4856-8DF9-707C26236613}"/>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t="10681" r="9091" b="12711"/>
          <a:stretch/>
        </p:blipFill>
        <p:spPr>
          <a:xfrm>
            <a:off x="20" y="10"/>
            <a:ext cx="12191980" cy="6857990"/>
          </a:xfrm>
          <a:prstGeom prst="rect">
            <a:avLst/>
          </a:prstGeom>
        </p:spPr>
      </p:pic>
      <p:grpSp>
        <p:nvGrpSpPr>
          <p:cNvPr id="15" name="Group 14">
            <a:extLst>
              <a:ext uri="{FF2B5EF4-FFF2-40B4-BE49-F238E27FC236}">
                <a16:creationId xmlns:a16="http://schemas.microsoft.com/office/drawing/2014/main" id="{D619FC33-16ED-4246-9596-BEFEB55E4CF6}"/>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38067" y="457200"/>
            <a:ext cx="7507083" cy="5935132"/>
            <a:chOff x="438067" y="457200"/>
            <a:chExt cx="7507083" cy="5935132"/>
          </a:xfrm>
        </p:grpSpPr>
        <p:sp>
          <p:nvSpPr>
            <p:cNvPr id="16" name="Rectangle 15">
              <a:extLst>
                <a:ext uri="{FF2B5EF4-FFF2-40B4-BE49-F238E27FC236}">
                  <a16:creationId xmlns:a16="http://schemas.microsoft.com/office/drawing/2014/main" id="{2EEA80E1-F99F-4009-837F-2F72F8A5D58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38067" y="618067"/>
              <a:ext cx="7503665" cy="5774265"/>
            </a:xfrm>
            <a:prstGeom prst="rect">
              <a:avLst/>
            </a:prstGeom>
            <a:solidFill>
              <a:schemeClr val="accent1">
                <a:alpha val="97000"/>
              </a:schemeClr>
            </a:solidFill>
            <a:ln w="6350" cmpd="sng">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0230AF9A-4641-4BD8-9F95-9607CD304039}"/>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38068"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8" name="Rectangle 17">
              <a:extLst>
                <a:ext uri="{FF2B5EF4-FFF2-40B4-BE49-F238E27FC236}">
                  <a16:creationId xmlns:a16="http://schemas.microsoft.com/office/drawing/2014/main" id="{8703D4EC-9389-41B6-B88B-B6FDC8CD3330}"/>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a:extLst>
              <a:ext uri="{FF2B5EF4-FFF2-40B4-BE49-F238E27FC236}">
                <a16:creationId xmlns:a16="http://schemas.microsoft.com/office/drawing/2014/main" id="{7F2616EE-270D-4F4C-BA1F-2708D387B800}"/>
              </a:ext>
            </a:extLst>
          </p:cNvPr>
          <p:cNvSpPr>
            <a:spLocks noGrp="1"/>
          </p:cNvSpPr>
          <p:nvPr>
            <p:ph type="title"/>
          </p:nvPr>
        </p:nvSpPr>
        <p:spPr>
          <a:xfrm>
            <a:off x="584200" y="1006956"/>
            <a:ext cx="7213600" cy="1121871"/>
          </a:xfrm>
        </p:spPr>
        <p:txBody>
          <a:bodyPr anchor="ctr">
            <a:normAutofit/>
          </a:bodyPr>
          <a:lstStyle/>
          <a:p>
            <a:pPr algn="ctr"/>
            <a:r>
              <a:rPr lang="en-US" dirty="0" smtClean="0"/>
              <a:t>Components</a:t>
            </a:r>
            <a:endParaRPr lang="en-US" dirty="0"/>
          </a:p>
        </p:txBody>
      </p:sp>
      <p:graphicFrame>
        <p:nvGraphicFramePr>
          <p:cNvPr id="6" name="Content Placeholder 5" descr="SmartArt">
            <a:extLst>
              <a:ext uri="{FF2B5EF4-FFF2-40B4-BE49-F238E27FC236}">
                <a16:creationId xmlns:a16="http://schemas.microsoft.com/office/drawing/2014/main" id="{BF629521-FFD2-45DA-9D1D-A5F09BD5A2D9}"/>
              </a:ext>
            </a:extLst>
          </p:cNvPr>
          <p:cNvGraphicFramePr>
            <a:graphicFrameLocks noGrp="1"/>
          </p:cNvGraphicFramePr>
          <p:nvPr>
            <p:ph idx="1"/>
            <p:extLst>
              <p:ext uri="{D42A27DB-BD31-4B8C-83A1-F6EECF244321}">
                <p14:modId xmlns:p14="http://schemas.microsoft.com/office/powerpoint/2010/main" val="2990304068"/>
              </p:ext>
            </p:extLst>
          </p:nvPr>
        </p:nvGraphicFramePr>
        <p:xfrm>
          <a:off x="719570" y="2198254"/>
          <a:ext cx="6961389" cy="35639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09322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lgn="l" defTabSz="457200" rtl="0">
              <a:spcBef>
                <a:spcPct val="0"/>
              </a:spcBef>
            </a:pPr>
            <a:r>
              <a:rPr lang="en-US" altLang="en-US" sz="2800" b="1" dirty="0">
                <a:solidFill>
                  <a:schemeClr val="bg1"/>
                </a:solidFill>
                <a:latin typeface="+mj-lt"/>
                <a:ea typeface="Times New Roman" panose="02020603050405020304" pitchFamily="18" charset="0"/>
              </a:rPr>
              <a:t>F</a:t>
            </a:r>
            <a:r>
              <a:rPr lang="en-US" altLang="en-US" sz="2800" b="1" dirty="0" bmk="">
                <a:solidFill>
                  <a:schemeClr val="bg1"/>
                </a:solidFill>
                <a:latin typeface="+mj-lt"/>
                <a:ea typeface="Times New Roman" panose="02020603050405020304" pitchFamily="18" charset="0"/>
              </a:rPr>
              <a:t>unctional </a:t>
            </a:r>
            <a:r>
              <a:rPr lang="en-US" altLang="en-US" sz="2800" b="1" dirty="0">
                <a:solidFill>
                  <a:schemeClr val="bg1"/>
                </a:solidFill>
                <a:latin typeface="+mj-lt"/>
                <a:ea typeface="Times New Roman" panose="02020603050405020304" pitchFamily="18" charset="0"/>
              </a:rPr>
              <a:t>Requirement</a:t>
            </a:r>
            <a:r>
              <a:rPr lang="en-US" altLang="en-US" sz="1600" b="1" dirty="0">
                <a:solidFill>
                  <a:schemeClr val="tx1"/>
                </a:solidFill>
                <a:latin typeface="Arial" panose="020B0604020202020204" pitchFamily="34" charset="0"/>
                <a:ea typeface="Times New Roman" panose="02020603050405020304" pitchFamily="18" charset="0"/>
              </a:rPr>
              <a:t/>
            </a:r>
            <a:br>
              <a:rPr lang="en-US" altLang="en-US" sz="1600" b="1" dirty="0">
                <a:solidFill>
                  <a:schemeClr val="tx1"/>
                </a:solidFill>
                <a:latin typeface="Arial" panose="020B0604020202020204" pitchFamily="34" charset="0"/>
                <a:ea typeface="Times New Roman" panose="02020603050405020304" pitchFamily="18" charset="0"/>
              </a:rPr>
            </a:br>
            <a:endParaRPr lang="en-IN" dirty="0"/>
          </a:p>
        </p:txBody>
      </p:sp>
      <p:sp>
        <p:nvSpPr>
          <p:cNvPr id="3" name="Content Placeholder 2"/>
          <p:cNvSpPr>
            <a:spLocks noGrp="1"/>
          </p:cNvSpPr>
          <p:nvPr>
            <p:ph idx="1"/>
          </p:nvPr>
        </p:nvSpPr>
        <p:spPr>
          <a:xfrm>
            <a:off x="473374" y="2152834"/>
            <a:ext cx="11029615" cy="4025897"/>
          </a:xfrm>
        </p:spPr>
        <p:txBody>
          <a:bodyPr>
            <a:normAutofit/>
          </a:bodyPr>
          <a:lstStyle/>
          <a:p>
            <a:pPr lvl="2"/>
            <a:r>
              <a:rPr lang="en-US" sz="1800" b="1" dirty="0"/>
              <a:t>Pill Intake:</a:t>
            </a:r>
            <a:endParaRPr lang="en-IN" sz="1800" b="1" dirty="0"/>
          </a:p>
          <a:p>
            <a:pPr lvl="3"/>
            <a:r>
              <a:rPr lang="en-US" sz="1600" u="sng" dirty="0"/>
              <a:t>Android Application: </a:t>
            </a:r>
            <a:r>
              <a:rPr lang="en-US" sz="1600" dirty="0"/>
              <a:t>It takes the schedule from the user and gives alert to the user about which pill is to be taken and on the user defined time and checks whether the pill is taken on time.</a:t>
            </a:r>
            <a:endParaRPr lang="en-IN" dirty="0"/>
          </a:p>
          <a:p>
            <a:pPr lvl="3"/>
            <a:r>
              <a:rPr lang="en-US" sz="1600" u="sng" dirty="0"/>
              <a:t>IR Sensor: </a:t>
            </a:r>
            <a:r>
              <a:rPr lang="en-US" sz="1600" dirty="0"/>
              <a:t>It will check the status of the pill. Checks if the pill slot is empty or not</a:t>
            </a:r>
            <a:r>
              <a:rPr lang="en-US" sz="1600" dirty="0" smtClean="0"/>
              <a:t>.</a:t>
            </a:r>
          </a:p>
          <a:p>
            <a:pPr lvl="3"/>
            <a:endParaRPr lang="en-US" sz="1600" dirty="0" smtClean="0"/>
          </a:p>
          <a:p>
            <a:pPr lvl="2"/>
            <a:r>
              <a:rPr lang="en-US" sz="1800" b="1" dirty="0"/>
              <a:t>Blood pressure:</a:t>
            </a:r>
            <a:endParaRPr lang="en-IN" sz="1800" b="1" dirty="0"/>
          </a:p>
          <a:p>
            <a:pPr lvl="3"/>
            <a:r>
              <a:rPr lang="en-US" sz="1600" u="sng" dirty="0"/>
              <a:t>Android Application: </a:t>
            </a:r>
            <a:r>
              <a:rPr lang="en-US" sz="1600" dirty="0"/>
              <a:t>Blood pressure graph is created to showcase the overall record of the patient</a:t>
            </a:r>
            <a:endParaRPr lang="en-IN" dirty="0"/>
          </a:p>
          <a:p>
            <a:pPr lvl="3"/>
            <a:r>
              <a:rPr lang="en-US" sz="1600" u="sng" dirty="0"/>
              <a:t>Pulse Sensor: </a:t>
            </a:r>
            <a:r>
              <a:rPr lang="en-US" sz="1600" dirty="0"/>
              <a:t>It takes in reading and sends it to the database.</a:t>
            </a:r>
            <a:endParaRPr lang="en-IN" dirty="0"/>
          </a:p>
          <a:p>
            <a:pPr lvl="3"/>
            <a:r>
              <a:rPr lang="en-US" sz="1600" u="sng" dirty="0"/>
              <a:t>Pulse History in Database: </a:t>
            </a:r>
            <a:r>
              <a:rPr lang="en-US" sz="1600" dirty="0"/>
              <a:t>It saves the pulse reading to show the rate in graph.</a:t>
            </a:r>
            <a:endParaRPr lang="en-IN" dirty="0"/>
          </a:p>
          <a:p>
            <a:pPr lvl="3"/>
            <a:r>
              <a:rPr lang="en-US" sz="1600" u="sng" dirty="0"/>
              <a:t>Firebase Functions: </a:t>
            </a:r>
            <a:r>
              <a:rPr lang="en-US" sz="1600" dirty="0"/>
              <a:t>It is written in the JavaScript. When there is an abnormal reading in the database, the firebase function would create a notification and send it to our device using Firebase Messaging Service</a:t>
            </a:r>
            <a:r>
              <a:rPr lang="en-US" sz="1600" dirty="0" smtClean="0"/>
              <a:t>.</a:t>
            </a:r>
            <a:endParaRPr lang="en-IN" dirty="0"/>
          </a:p>
        </p:txBody>
      </p:sp>
      <p:sp>
        <p:nvSpPr>
          <p:cNvPr id="8" name="Rectangle 5"/>
          <p:cNvSpPr>
            <a:spLocks noChangeArrowheads="1"/>
          </p:cNvSpPr>
          <p:nvPr/>
        </p:nvSpPr>
        <p:spPr bwMode="auto">
          <a:xfrm>
            <a:off x="-215153" y="4238477"/>
            <a:ext cx="688527" cy="6674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590364" tIns="219006" rIns="91440" bIns="0" numCol="1" anchor="ctr" anchorCtr="0" compatLnSpc="1">
            <a:prstTxWarp prst="textNoShape">
              <a:avLst/>
            </a:prstTxWarp>
            <a:spAutoFit/>
          </a:bodyPr>
          <a:lstStyle>
            <a:lvl1pPr eaLnBrk="0" fontAlgn="base" hangingPunct="0">
              <a:spcBef>
                <a:spcPct val="0"/>
              </a:spcBef>
              <a:spcAft>
                <a:spcPct val="0"/>
              </a:spcAft>
              <a:tabLst>
                <a:tab pos="423863" algn="l"/>
              </a:tabLst>
              <a:defRPr>
                <a:solidFill>
                  <a:schemeClr val="tx1"/>
                </a:solidFill>
                <a:latin typeface="Arial" panose="020B0604020202020204" pitchFamily="34" charset="0"/>
              </a:defRPr>
            </a:lvl1pPr>
            <a:lvl2pPr eaLnBrk="0" fontAlgn="base" hangingPunct="0">
              <a:spcBef>
                <a:spcPct val="0"/>
              </a:spcBef>
              <a:spcAft>
                <a:spcPct val="0"/>
              </a:spcAft>
              <a:tabLst>
                <a:tab pos="423863" algn="l"/>
              </a:tabLst>
              <a:defRPr>
                <a:solidFill>
                  <a:schemeClr val="tx1"/>
                </a:solidFill>
                <a:latin typeface="Arial" panose="020B0604020202020204" pitchFamily="34" charset="0"/>
              </a:defRPr>
            </a:lvl2pPr>
            <a:lvl3pPr eaLnBrk="0" fontAlgn="base" hangingPunct="0">
              <a:spcBef>
                <a:spcPct val="0"/>
              </a:spcBef>
              <a:spcAft>
                <a:spcPct val="0"/>
              </a:spcAft>
              <a:tabLst>
                <a:tab pos="423863" algn="l"/>
              </a:tabLst>
              <a:defRPr>
                <a:solidFill>
                  <a:schemeClr val="tx1"/>
                </a:solidFill>
                <a:latin typeface="Arial" panose="020B0604020202020204" pitchFamily="34" charset="0"/>
              </a:defRPr>
            </a:lvl3pPr>
            <a:lvl4pPr eaLnBrk="0" fontAlgn="base" hangingPunct="0">
              <a:spcBef>
                <a:spcPct val="0"/>
              </a:spcBef>
              <a:spcAft>
                <a:spcPct val="0"/>
              </a:spcAft>
              <a:tabLst>
                <a:tab pos="423863" algn="l"/>
              </a:tabLst>
              <a:defRPr>
                <a:solidFill>
                  <a:schemeClr val="tx1"/>
                </a:solidFill>
                <a:latin typeface="Arial" panose="020B0604020202020204" pitchFamily="34" charset="0"/>
              </a:defRPr>
            </a:lvl4pPr>
            <a:lvl5pPr eaLnBrk="0" fontAlgn="base" hangingPunct="0">
              <a:spcBef>
                <a:spcPct val="0"/>
              </a:spcBef>
              <a:spcAft>
                <a:spcPct val="0"/>
              </a:spcAft>
              <a:tabLst>
                <a:tab pos="423863" algn="l"/>
              </a:tabLst>
              <a:defRPr>
                <a:solidFill>
                  <a:schemeClr val="tx1"/>
                </a:solidFill>
                <a:latin typeface="Arial" panose="020B0604020202020204" pitchFamily="34" charset="0"/>
              </a:defRPr>
            </a:lvl5pPr>
            <a:lvl6pPr eaLnBrk="0" fontAlgn="base" hangingPunct="0">
              <a:spcBef>
                <a:spcPct val="0"/>
              </a:spcBef>
              <a:spcAft>
                <a:spcPct val="0"/>
              </a:spcAft>
              <a:tabLst>
                <a:tab pos="423863" algn="l"/>
              </a:tabLst>
              <a:defRPr>
                <a:solidFill>
                  <a:schemeClr val="tx1"/>
                </a:solidFill>
                <a:latin typeface="Arial" panose="020B0604020202020204" pitchFamily="34" charset="0"/>
              </a:defRPr>
            </a:lvl6pPr>
            <a:lvl7pPr eaLnBrk="0" fontAlgn="base" hangingPunct="0">
              <a:spcBef>
                <a:spcPct val="0"/>
              </a:spcBef>
              <a:spcAft>
                <a:spcPct val="0"/>
              </a:spcAft>
              <a:tabLst>
                <a:tab pos="423863" algn="l"/>
              </a:tabLst>
              <a:defRPr>
                <a:solidFill>
                  <a:schemeClr val="tx1"/>
                </a:solidFill>
                <a:latin typeface="Arial" panose="020B0604020202020204" pitchFamily="34" charset="0"/>
              </a:defRPr>
            </a:lvl7pPr>
            <a:lvl8pPr eaLnBrk="0" fontAlgn="base" hangingPunct="0">
              <a:spcBef>
                <a:spcPct val="0"/>
              </a:spcBef>
              <a:spcAft>
                <a:spcPct val="0"/>
              </a:spcAft>
              <a:tabLst>
                <a:tab pos="423863" algn="l"/>
              </a:tabLst>
              <a:defRPr>
                <a:solidFill>
                  <a:schemeClr val="tx1"/>
                </a:solidFill>
                <a:latin typeface="Arial" panose="020B0604020202020204" pitchFamily="34" charset="0"/>
              </a:defRPr>
            </a:lvl8pPr>
            <a:lvl9pPr eaLnBrk="0" fontAlgn="base" hangingPunct="0">
              <a:spcBef>
                <a:spcPct val="0"/>
              </a:spcBef>
              <a:spcAft>
                <a:spcPct val="0"/>
              </a:spcAft>
              <a:tabLst>
                <a:tab pos="423863"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423863" algn="l"/>
              </a:tabLst>
            </a:pPr>
            <a:r>
              <a:rPr kumimoji="0" lang="en-US" altLang="en-US" sz="11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t/>
            </a:r>
            <a:br>
              <a:rPr kumimoji="0" lang="en-US" altLang="en-US" sz="11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rPr>
            </a:b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1812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1192" y="2062930"/>
            <a:ext cx="11029615" cy="4154990"/>
          </a:xfrm>
        </p:spPr>
        <p:txBody>
          <a:bodyPr>
            <a:normAutofit/>
          </a:bodyPr>
          <a:lstStyle/>
          <a:p>
            <a:pPr lvl="2"/>
            <a:r>
              <a:rPr lang="en-US" sz="1800" b="1" dirty="0"/>
              <a:t>Nearby:</a:t>
            </a:r>
            <a:endParaRPr lang="en-IN" sz="1800" b="1" dirty="0"/>
          </a:p>
          <a:p>
            <a:pPr lvl="3"/>
            <a:r>
              <a:rPr lang="en-US" sz="1600" u="sng" dirty="0"/>
              <a:t>Android Application: </a:t>
            </a:r>
            <a:r>
              <a:rPr lang="en-US" sz="1600" dirty="0"/>
              <a:t>This UI will show nearby hospitals, pharmacy and blood banks.</a:t>
            </a:r>
            <a:endParaRPr lang="en-IN" dirty="0"/>
          </a:p>
          <a:p>
            <a:endParaRPr lang="en-US" dirty="0" smtClean="0"/>
          </a:p>
          <a:p>
            <a:endParaRPr lang="en-US" dirty="0" smtClean="0"/>
          </a:p>
          <a:p>
            <a:pPr lvl="2"/>
            <a:r>
              <a:rPr lang="en-US" sz="1800" dirty="0" smtClean="0"/>
              <a:t> </a:t>
            </a:r>
            <a:r>
              <a:rPr lang="en-US" sz="1800" b="1" dirty="0" smtClean="0"/>
              <a:t>RELIABILITY:</a:t>
            </a:r>
            <a:r>
              <a:rPr lang="en-US" sz="1800" dirty="0" smtClean="0"/>
              <a:t> </a:t>
            </a:r>
            <a:r>
              <a:rPr lang="en-US" sz="1600" dirty="0"/>
              <a:t>Easy to use. It is reliable and cost effective. But the only weakness is slow networks.</a:t>
            </a:r>
            <a:endParaRPr lang="en-IN" sz="1600" dirty="0"/>
          </a:p>
          <a:p>
            <a:endParaRPr lang="en-IN" sz="2800" dirty="0"/>
          </a:p>
        </p:txBody>
      </p:sp>
      <p:sp>
        <p:nvSpPr>
          <p:cNvPr id="4" name="Title 1"/>
          <p:cNvSpPr txBox="1">
            <a:spLocks/>
          </p:cNvSpPr>
          <p:nvPr/>
        </p:nvSpPr>
        <p:spPr>
          <a:xfrm>
            <a:off x="581192" y="763115"/>
            <a:ext cx="11029616" cy="101380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0" lvl="2" algn="l" defTabSz="457200" rtl="0">
              <a:spcBef>
                <a:spcPct val="0"/>
              </a:spcBef>
            </a:pPr>
            <a:r>
              <a:rPr lang="en-US" altLang="en-US" sz="2800" b="1" kern="0" dirty="0" smtClean="0">
                <a:solidFill>
                  <a:schemeClr val="bg1"/>
                </a:solidFill>
                <a:latin typeface="+mj-lt"/>
                <a:ea typeface="Times New Roman" panose="02020603050405020304" pitchFamily="18" charset="0"/>
              </a:rPr>
              <a:t>F</a:t>
            </a:r>
            <a:r>
              <a:rPr lang="en-US" altLang="en-US" sz="2800" b="1" kern="0" dirty="0" smtClean="0" bmk="">
                <a:solidFill>
                  <a:schemeClr val="bg1"/>
                </a:solidFill>
                <a:latin typeface="+mj-lt"/>
                <a:ea typeface="Times New Roman" panose="02020603050405020304" pitchFamily="18" charset="0"/>
              </a:rPr>
              <a:t>unctional </a:t>
            </a:r>
            <a:r>
              <a:rPr lang="en-US" altLang="en-US" sz="2800" b="1" kern="0" dirty="0" smtClean="0">
                <a:solidFill>
                  <a:schemeClr val="bg1"/>
                </a:solidFill>
                <a:latin typeface="+mj-lt"/>
                <a:ea typeface="Times New Roman" panose="02020603050405020304" pitchFamily="18" charset="0"/>
              </a:rPr>
              <a:t>Requirement</a:t>
            </a:r>
            <a:r>
              <a:rPr lang="en-US" altLang="en-US" sz="1600" b="1" kern="0" dirty="0" smtClean="0">
                <a:solidFill>
                  <a:schemeClr val="tx1"/>
                </a:solidFill>
                <a:latin typeface="Arial" panose="020B0604020202020204" pitchFamily="34" charset="0"/>
                <a:ea typeface="Times New Roman" panose="02020603050405020304" pitchFamily="18" charset="0"/>
              </a:rPr>
              <a:t/>
            </a:r>
            <a:br>
              <a:rPr lang="en-US" altLang="en-US" sz="1600" b="1" kern="0" dirty="0" smtClean="0">
                <a:solidFill>
                  <a:schemeClr val="tx1"/>
                </a:solidFill>
                <a:latin typeface="Arial" panose="020B0604020202020204" pitchFamily="34" charset="0"/>
                <a:ea typeface="Times New Roman" panose="02020603050405020304" pitchFamily="18" charset="0"/>
              </a:rPr>
            </a:br>
            <a:endParaRPr lang="en-IN" kern="0" dirty="0"/>
          </a:p>
        </p:txBody>
      </p:sp>
    </p:spTree>
    <p:extLst>
      <p:ext uri="{BB962C8B-B14F-4D97-AF65-F5344CB8AC3E}">
        <p14:creationId xmlns:p14="http://schemas.microsoft.com/office/powerpoint/2010/main" val="671395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839261"/>
          </a:xfrm>
        </p:spPr>
        <p:txBody>
          <a:bodyPr>
            <a:normAutofit/>
          </a:bodyPr>
          <a:lstStyle/>
          <a:p>
            <a:pPr lvl="1" algn="l" defTabSz="457200" rtl="0">
              <a:spcBef>
                <a:spcPct val="0"/>
              </a:spcBef>
            </a:pPr>
            <a:r>
              <a:rPr lang="en-US" sz="2800" b="1" dirty="0">
                <a:solidFill>
                  <a:schemeClr val="bg1"/>
                </a:solidFill>
              </a:rPr>
              <a:t>Non-Functional </a:t>
            </a:r>
            <a:r>
              <a:rPr lang="en-US" sz="2800" b="1" dirty="0" smtClean="0">
                <a:solidFill>
                  <a:schemeClr val="bg1"/>
                </a:solidFill>
              </a:rPr>
              <a:t>Requirement</a:t>
            </a:r>
            <a:endParaRPr lang="en-IN" sz="2800" dirty="0">
              <a:solidFill>
                <a:schemeClr val="bg1"/>
              </a:solidFill>
            </a:endParaRPr>
          </a:p>
        </p:txBody>
      </p:sp>
      <p:sp>
        <p:nvSpPr>
          <p:cNvPr id="3" name="Content Placeholder 2"/>
          <p:cNvSpPr>
            <a:spLocks noGrp="1"/>
          </p:cNvSpPr>
          <p:nvPr>
            <p:ph idx="1"/>
          </p:nvPr>
        </p:nvSpPr>
        <p:spPr>
          <a:xfrm>
            <a:off x="581192" y="2180496"/>
            <a:ext cx="11029615" cy="4285618"/>
          </a:xfrm>
        </p:spPr>
        <p:txBody>
          <a:bodyPr>
            <a:noAutofit/>
          </a:bodyPr>
          <a:lstStyle/>
          <a:p>
            <a:pPr lvl="2"/>
            <a:r>
              <a:rPr lang="en-US" sz="1800" b="1" dirty="0" smtClean="0"/>
              <a:t>Usability</a:t>
            </a:r>
            <a:endParaRPr lang="en-IN" sz="1800" b="1" dirty="0"/>
          </a:p>
          <a:p>
            <a:pPr lvl="3"/>
            <a:r>
              <a:rPr lang="en-US" sz="1600" dirty="0"/>
              <a:t>Patient condition can be monitored</a:t>
            </a:r>
            <a:endParaRPr lang="en-IN" dirty="0"/>
          </a:p>
          <a:p>
            <a:pPr lvl="3"/>
            <a:r>
              <a:rPr lang="en-US" sz="1600" dirty="0"/>
              <a:t>They can be administered medication remotely</a:t>
            </a:r>
            <a:r>
              <a:rPr lang="en-US" sz="1600" dirty="0" smtClean="0"/>
              <a:t>.</a:t>
            </a:r>
          </a:p>
          <a:p>
            <a:pPr lvl="3"/>
            <a:endParaRPr lang="en-IN" sz="1400" dirty="0"/>
          </a:p>
          <a:p>
            <a:pPr lvl="2"/>
            <a:r>
              <a:rPr lang="en-US" sz="1800" b="1" dirty="0" smtClean="0"/>
              <a:t>Reliability</a:t>
            </a:r>
            <a:r>
              <a:rPr lang="en-IN" sz="1800" b="1" dirty="0" smtClean="0"/>
              <a:t>:   </a:t>
            </a:r>
            <a:r>
              <a:rPr lang="en-US" sz="1600" dirty="0" smtClean="0"/>
              <a:t>Easy </a:t>
            </a:r>
            <a:r>
              <a:rPr lang="en-US" sz="1600" dirty="0"/>
              <a:t>to use. It is reliable and cost effective</a:t>
            </a:r>
            <a:r>
              <a:rPr lang="en-US" sz="1600" dirty="0" smtClean="0"/>
              <a:t>.</a:t>
            </a:r>
          </a:p>
          <a:p>
            <a:pPr lvl="2"/>
            <a:endParaRPr lang="en-IN" sz="1050" dirty="0"/>
          </a:p>
          <a:p>
            <a:pPr lvl="2"/>
            <a:r>
              <a:rPr lang="en-US" sz="1800" b="1" dirty="0"/>
              <a:t>Performance</a:t>
            </a:r>
            <a:endParaRPr lang="en-IN" sz="1800" b="1" dirty="0"/>
          </a:p>
          <a:p>
            <a:pPr lvl="3"/>
            <a:r>
              <a:rPr lang="en-US" sz="1600" dirty="0"/>
              <a:t>Throughput is fast and reliable.</a:t>
            </a:r>
            <a:endParaRPr lang="en-IN" dirty="0"/>
          </a:p>
          <a:p>
            <a:pPr lvl="3"/>
            <a:r>
              <a:rPr lang="en-US" sz="1600" dirty="0"/>
              <a:t>May crash in case of high traffic or slow network speed.</a:t>
            </a:r>
            <a:endParaRPr lang="en-IN" dirty="0"/>
          </a:p>
          <a:p>
            <a:endParaRPr lang="en-IN" sz="2400" dirty="0"/>
          </a:p>
        </p:txBody>
      </p:sp>
    </p:spTree>
    <p:extLst>
      <p:ext uri="{BB962C8B-B14F-4D97-AF65-F5344CB8AC3E}">
        <p14:creationId xmlns:p14="http://schemas.microsoft.com/office/powerpoint/2010/main" val="24473386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1"/>
            <a:r>
              <a:rPr lang="en-US" sz="2800" b="1" dirty="0">
                <a:solidFill>
                  <a:schemeClr val="bg1"/>
                </a:solidFill>
              </a:rPr>
              <a:t>Use Case Diagram</a:t>
            </a:r>
            <a:endParaRPr lang="en-IN" sz="2800" b="1" dirty="0">
              <a:solidFill>
                <a:schemeClr val="bg1"/>
              </a:solidFill>
            </a:endParaRPr>
          </a:p>
        </p:txBody>
      </p:sp>
      <p:pic>
        <p:nvPicPr>
          <p:cNvPr id="4" name="image2.jpeg"/>
          <p:cNvPicPr>
            <a:picLocks noGrp="1"/>
          </p:cNvPicPr>
          <p:nvPr>
            <p:ph idx="1"/>
          </p:nvPr>
        </p:nvPicPr>
        <p:blipFill>
          <a:blip r:embed="rId2" cstate="print"/>
          <a:stretch>
            <a:fillRect/>
          </a:stretch>
        </p:blipFill>
        <p:spPr>
          <a:xfrm>
            <a:off x="2913086" y="2181225"/>
            <a:ext cx="6365828" cy="3678238"/>
          </a:xfrm>
          <a:prstGeom prst="rect">
            <a:avLst/>
          </a:prstGeom>
        </p:spPr>
      </p:pic>
    </p:spTree>
    <p:extLst>
      <p:ext uri="{BB962C8B-B14F-4D97-AF65-F5344CB8AC3E}">
        <p14:creationId xmlns:p14="http://schemas.microsoft.com/office/powerpoint/2010/main" val="163144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defTabSz="457200" rtl="0">
              <a:spcBef>
                <a:spcPct val="0"/>
              </a:spcBef>
            </a:pPr>
            <a:r>
              <a:rPr lang="en-US" altLang="en-US" sz="2800" b="1" dirty="0" bmk="_Toc5829620">
                <a:solidFill>
                  <a:schemeClr val="bg1"/>
                </a:solidFill>
                <a:latin typeface="Arial" panose="020B0604020202020204" pitchFamily="34" charset="0"/>
                <a:ea typeface="Times New Roman" panose="02020603050405020304" pitchFamily="18" charset="0"/>
              </a:rPr>
              <a:t>Class Diagram</a:t>
            </a:r>
            <a:r>
              <a:rPr lang="en-US" altLang="en-US" sz="1600" b="1" dirty="0">
                <a:solidFill>
                  <a:schemeClr val="tx1"/>
                </a:solidFill>
                <a:latin typeface="Arial" panose="020B0604020202020204" pitchFamily="34" charset="0"/>
                <a:ea typeface="Times New Roman" panose="02020603050405020304" pitchFamily="18" charset="0"/>
              </a:rPr>
              <a:t/>
            </a:r>
            <a:br>
              <a:rPr lang="en-US" altLang="en-US" sz="1600" b="1" dirty="0">
                <a:solidFill>
                  <a:schemeClr val="tx1"/>
                </a:solidFill>
                <a:latin typeface="Arial" panose="020B0604020202020204" pitchFamily="34" charset="0"/>
                <a:ea typeface="Times New Roman" panose="02020603050405020304" pitchFamily="18" charset="0"/>
              </a:rPr>
            </a:br>
            <a:endParaRPr lang="en-IN" dirty="0"/>
          </a:p>
        </p:txBody>
      </p:sp>
      <p:pic>
        <p:nvPicPr>
          <p:cNvPr id="4" name="image3.jpeg"/>
          <p:cNvPicPr>
            <a:picLocks noGrp="1"/>
          </p:cNvPicPr>
          <p:nvPr>
            <p:ph idx="1"/>
          </p:nvPr>
        </p:nvPicPr>
        <p:blipFill>
          <a:blip r:embed="rId2" cstate="print"/>
          <a:stretch>
            <a:fillRect/>
          </a:stretch>
        </p:blipFill>
        <p:spPr>
          <a:xfrm>
            <a:off x="3148148" y="2181225"/>
            <a:ext cx="5264331" cy="4546146"/>
          </a:xfrm>
          <a:prstGeom prst="rect">
            <a:avLst/>
          </a:prstGeom>
        </p:spPr>
      </p:pic>
    </p:spTree>
    <p:extLst>
      <p:ext uri="{BB962C8B-B14F-4D97-AF65-F5344CB8AC3E}">
        <p14:creationId xmlns:p14="http://schemas.microsoft.com/office/powerpoint/2010/main" val="1813337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 Diagram</a:t>
            </a:r>
            <a:endParaRPr lang="en-IN" dirty="0"/>
          </a:p>
        </p:txBody>
      </p:sp>
      <p:pic>
        <p:nvPicPr>
          <p:cNvPr id="4" name="image4.jpeg"/>
          <p:cNvPicPr>
            <a:picLocks noGrp="1"/>
          </p:cNvPicPr>
          <p:nvPr>
            <p:ph idx="1"/>
          </p:nvPr>
        </p:nvPicPr>
        <p:blipFill>
          <a:blip r:embed="rId2" cstate="print"/>
          <a:stretch>
            <a:fillRect/>
          </a:stretch>
        </p:blipFill>
        <p:spPr>
          <a:xfrm>
            <a:off x="1959429" y="2181224"/>
            <a:ext cx="7302137" cy="4676775"/>
          </a:xfrm>
          <a:prstGeom prst="rect">
            <a:avLst/>
          </a:prstGeom>
        </p:spPr>
      </p:pic>
    </p:spTree>
    <p:extLst>
      <p:ext uri="{BB962C8B-B14F-4D97-AF65-F5344CB8AC3E}">
        <p14:creationId xmlns:p14="http://schemas.microsoft.com/office/powerpoint/2010/main" val="501073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Diagram</a:t>
            </a:r>
            <a:endParaRPr lang="en-IN" dirty="0"/>
          </a:p>
        </p:txBody>
      </p:sp>
      <p:pic>
        <p:nvPicPr>
          <p:cNvPr id="4" name="image5.png"/>
          <p:cNvPicPr>
            <a:picLocks noGrp="1"/>
          </p:cNvPicPr>
          <p:nvPr>
            <p:ph idx="1"/>
          </p:nvPr>
        </p:nvPicPr>
        <p:blipFill>
          <a:blip r:embed="rId2" cstate="print"/>
          <a:stretch>
            <a:fillRect/>
          </a:stretch>
        </p:blipFill>
        <p:spPr>
          <a:xfrm>
            <a:off x="2194559" y="1867716"/>
            <a:ext cx="7602583" cy="4990284"/>
          </a:xfrm>
          <a:prstGeom prst="rect">
            <a:avLst/>
          </a:prstGeom>
        </p:spPr>
      </p:pic>
    </p:spTree>
    <p:extLst>
      <p:ext uri="{BB962C8B-B14F-4D97-AF65-F5344CB8AC3E}">
        <p14:creationId xmlns:p14="http://schemas.microsoft.com/office/powerpoint/2010/main" val="3258833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Activity Diagram</a:t>
            </a:r>
            <a:endParaRPr lang="en-IN" dirty="0"/>
          </a:p>
        </p:txBody>
      </p:sp>
      <p:pic>
        <p:nvPicPr>
          <p:cNvPr id="4" name="image6.jpeg"/>
          <p:cNvPicPr>
            <a:picLocks noGrp="1"/>
          </p:cNvPicPr>
          <p:nvPr>
            <p:ph idx="1"/>
          </p:nvPr>
        </p:nvPicPr>
        <p:blipFill>
          <a:blip r:embed="rId2" cstate="print"/>
          <a:stretch>
            <a:fillRect/>
          </a:stretch>
        </p:blipFill>
        <p:spPr>
          <a:xfrm>
            <a:off x="3357155" y="2181224"/>
            <a:ext cx="6021976" cy="4676775"/>
          </a:xfrm>
          <a:prstGeom prst="rect">
            <a:avLst/>
          </a:prstGeom>
        </p:spPr>
      </p:pic>
    </p:spTree>
    <p:extLst>
      <p:ext uri="{BB962C8B-B14F-4D97-AF65-F5344CB8AC3E}">
        <p14:creationId xmlns:p14="http://schemas.microsoft.com/office/powerpoint/2010/main" val="40730628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a:t>
            </a:r>
            <a:endParaRPr lang="en-IN" dirty="0"/>
          </a:p>
        </p:txBody>
      </p:sp>
      <p:pic>
        <p:nvPicPr>
          <p:cNvPr id="4" name="image7.png"/>
          <p:cNvPicPr>
            <a:picLocks noGrp="1"/>
          </p:cNvPicPr>
          <p:nvPr>
            <p:ph idx="1"/>
          </p:nvPr>
        </p:nvPicPr>
        <p:blipFill>
          <a:blip r:embed="rId2" cstate="print"/>
          <a:stretch>
            <a:fillRect/>
          </a:stretch>
        </p:blipFill>
        <p:spPr>
          <a:xfrm>
            <a:off x="2205831" y="2181225"/>
            <a:ext cx="7780338" cy="4180386"/>
          </a:xfrm>
          <a:prstGeom prst="rect">
            <a:avLst/>
          </a:prstGeom>
        </p:spPr>
      </p:pic>
    </p:spTree>
    <p:extLst>
      <p:ext uri="{BB962C8B-B14F-4D97-AF65-F5344CB8AC3E}">
        <p14:creationId xmlns:p14="http://schemas.microsoft.com/office/powerpoint/2010/main" val="2186166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Conclusion and Future Scope</a:t>
            </a:r>
            <a:endParaRPr lang="en-IN" sz="1200" dirty="0"/>
          </a:p>
        </p:txBody>
      </p:sp>
      <p:sp>
        <p:nvSpPr>
          <p:cNvPr id="3" name="Content Placeholder 2"/>
          <p:cNvSpPr>
            <a:spLocks noGrp="1"/>
          </p:cNvSpPr>
          <p:nvPr>
            <p:ph idx="1"/>
          </p:nvPr>
        </p:nvSpPr>
        <p:spPr>
          <a:xfrm>
            <a:off x="581192" y="2180496"/>
            <a:ext cx="11029615" cy="4573001"/>
          </a:xfrm>
        </p:spPr>
        <p:txBody>
          <a:bodyPr>
            <a:normAutofit fontScale="92500" lnSpcReduction="10000"/>
          </a:bodyPr>
          <a:lstStyle/>
          <a:p>
            <a:pPr marL="0" indent="0">
              <a:buNone/>
            </a:pPr>
            <a:r>
              <a:rPr lang="en-US" b="1" dirty="0"/>
              <a:t> </a:t>
            </a:r>
            <a:r>
              <a:rPr lang="en-US" sz="2400" b="1" dirty="0" smtClean="0"/>
              <a:t>Conclusion</a:t>
            </a:r>
            <a:endParaRPr lang="en-IN" b="1" dirty="0"/>
          </a:p>
          <a:p>
            <a:r>
              <a:rPr lang="en-US" dirty="0"/>
              <a:t>This task has concentrated on the issues looked by senior natives concerning ad- hence to their recommended medicine. It helps the older who live freely as well as the guardians of the old by helping perfect add up to remember drug at the opportune time. The brilliant medication box utilizing install stage has just been tentatively demonstrated to work agreeably. This medication box alongside the android application is a kind of self-loader can demonstrate helpful and an easy to understand instrument for us all. It encourages it to be cost proficient too. The other favorable position of this crate is that it is anything but difficult to utilize and the intricacy is less. This guarantees the old patient expends the correct dose of drug at the ideal time, gave the person acknowledges this new, irregular technique for prescription. The portable application constructed additionally screens the heart beat rate and in- forms of any irregularity., adjacent drug store, medical clinics and Blood </a:t>
            </a:r>
            <a:r>
              <a:rPr lang="en-US" dirty="0" smtClean="0"/>
              <a:t>banks.</a:t>
            </a:r>
            <a:endParaRPr lang="en-IN" dirty="0"/>
          </a:p>
          <a:p>
            <a:pPr marL="0" indent="0">
              <a:buNone/>
            </a:pPr>
            <a:endParaRPr lang="en-IN" b="1" dirty="0"/>
          </a:p>
          <a:p>
            <a:pPr marL="0" indent="0">
              <a:buNone/>
            </a:pPr>
            <a:r>
              <a:rPr lang="en-US" b="1" dirty="0" smtClean="0"/>
              <a:t>Future </a:t>
            </a:r>
            <a:r>
              <a:rPr lang="en-US" b="1" dirty="0"/>
              <a:t>Scope</a:t>
            </a:r>
            <a:endParaRPr lang="en-IN" b="1" dirty="0"/>
          </a:p>
          <a:p>
            <a:r>
              <a:rPr lang="en-US" dirty="0"/>
              <a:t>In the future, we chose to include the element of checking the quantity of pills. That will be useful for the client to get continuous prescription since it will almost certainly alert the client or patient on coming to the pre-set limit through notification</a:t>
            </a:r>
            <a:r>
              <a:rPr lang="en-US" dirty="0" smtClean="0"/>
              <a:t>.</a:t>
            </a:r>
            <a:r>
              <a:rPr lang="en-US" dirty="0"/>
              <a:t> </a:t>
            </a:r>
            <a:endParaRPr lang="en-IN" sz="3200" dirty="0"/>
          </a:p>
          <a:p>
            <a:endParaRPr lang="en-IN" dirty="0"/>
          </a:p>
        </p:txBody>
      </p:sp>
    </p:spTree>
    <p:extLst>
      <p:ext uri="{BB962C8B-B14F-4D97-AF65-F5344CB8AC3E}">
        <p14:creationId xmlns:p14="http://schemas.microsoft.com/office/powerpoint/2010/main" val="6733342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References</a:t>
            </a:r>
            <a:r>
              <a:rPr lang="en-IN" b="1" dirty="0"/>
              <a:t/>
            </a:r>
            <a:br>
              <a:rPr lang="en-IN" b="1" dirty="0"/>
            </a:br>
            <a:endParaRPr lang="en-IN" dirty="0"/>
          </a:p>
        </p:txBody>
      </p:sp>
      <p:sp>
        <p:nvSpPr>
          <p:cNvPr id="3" name="Content Placeholder 2"/>
          <p:cNvSpPr>
            <a:spLocks noGrp="1"/>
          </p:cNvSpPr>
          <p:nvPr>
            <p:ph idx="1"/>
          </p:nvPr>
        </p:nvSpPr>
        <p:spPr/>
        <p:txBody>
          <a:bodyPr>
            <a:normAutofit/>
          </a:bodyPr>
          <a:lstStyle/>
          <a:p>
            <a:pPr lvl="2"/>
            <a:r>
              <a:rPr lang="en-US" sz="1600" b="1" i="1" dirty="0" err="1" smtClean="0"/>
              <a:t>Wandless</a:t>
            </a:r>
            <a:r>
              <a:rPr lang="en-US" sz="1600" b="1" i="1" dirty="0" smtClean="0"/>
              <a:t> </a:t>
            </a:r>
            <a:r>
              <a:rPr lang="en-US" sz="1600" b="1" i="1" dirty="0"/>
              <a:t>I, </a:t>
            </a:r>
            <a:r>
              <a:rPr lang="en-US" sz="1600" b="1" i="1" dirty="0" err="1"/>
              <a:t>Mucklow</a:t>
            </a:r>
            <a:r>
              <a:rPr lang="en-US" sz="1600" b="1" i="1" dirty="0"/>
              <a:t> JC, Smith A, and </a:t>
            </a:r>
            <a:r>
              <a:rPr lang="en-US" sz="1600" b="1" i="1" dirty="0" err="1"/>
              <a:t>Prudham</a:t>
            </a:r>
            <a:r>
              <a:rPr lang="en-US" sz="1600" b="1" i="1" dirty="0"/>
              <a:t> D Improving oral medication compliance with an electronic aid Engineering in Medicine and Biology Magazine, IEEE</a:t>
            </a:r>
            <a:endParaRPr lang="en-IN" b="1" dirty="0"/>
          </a:p>
          <a:p>
            <a:pPr lvl="2"/>
            <a:r>
              <a:rPr lang="en-US" sz="1600" b="1" dirty="0"/>
              <a:t>https://www.youtube.com/user/akshayejh</a:t>
            </a:r>
            <a:endParaRPr lang="en-IN" b="1" dirty="0"/>
          </a:p>
          <a:p>
            <a:pPr lvl="2"/>
            <a:r>
              <a:rPr lang="en-US" sz="1600" b="1" dirty="0"/>
              <a:t>https://www.tutorialspoint.com/android/index.htm</a:t>
            </a:r>
            <a:endParaRPr lang="en-IN" b="1" dirty="0"/>
          </a:p>
          <a:p>
            <a:pPr lvl="2"/>
            <a:r>
              <a:rPr lang="en-US" sz="1600" b="1" dirty="0"/>
              <a:t>https://github.com/ioxhop/IOXhop_FirebaseESP32</a:t>
            </a:r>
            <a:endParaRPr lang="en-IN" b="1" dirty="0"/>
          </a:p>
          <a:p>
            <a:pPr lvl="2"/>
            <a:r>
              <a:rPr lang="en-US" sz="1600" b="1" dirty="0"/>
              <a:t>http://www.instructables.com/howto/Pill-Box</a:t>
            </a:r>
            <a:r>
              <a:rPr lang="en-US" sz="1600" b="1" dirty="0" smtClean="0"/>
              <a:t>/</a:t>
            </a:r>
            <a:r>
              <a:rPr lang="en-US" sz="1600" b="1" dirty="0"/>
              <a:t> </a:t>
            </a:r>
            <a:endParaRPr lang="en-IN" sz="3600" b="1" dirty="0"/>
          </a:p>
        </p:txBody>
      </p:sp>
    </p:spTree>
    <p:extLst>
      <p:ext uri="{BB962C8B-B14F-4D97-AF65-F5344CB8AC3E}">
        <p14:creationId xmlns:p14="http://schemas.microsoft.com/office/powerpoint/2010/main" val="37410388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79F11E2-8BA5-4C5C-AE7C-361E5EA011F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gital Numbers">
            <a:extLst>
              <a:ext uri="{FF2B5EF4-FFF2-40B4-BE49-F238E27FC236}">
                <a16:creationId xmlns:a16="http://schemas.microsoft.com/office/drawing/2014/main" id="{A21EA617-6D48-425F-97A8-7FEC82C8F401}"/>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l="2189" r="9642" b="1"/>
          <a:stretch/>
        </p:blipFill>
        <p:spPr>
          <a:xfrm>
            <a:off x="446534" y="723899"/>
            <a:ext cx="7498616" cy="5676901"/>
          </a:xfrm>
          <a:prstGeom prst="rect">
            <a:avLst/>
          </a:prstGeom>
        </p:spPr>
      </p:pic>
      <p:sp>
        <p:nvSpPr>
          <p:cNvPr id="12" name="Rectangle 11">
            <a:extLst>
              <a:ext uri="{FF2B5EF4-FFF2-40B4-BE49-F238E27FC236}">
                <a16:creationId xmlns:a16="http://schemas.microsoft.com/office/drawing/2014/main" id="{7C00E1DA-EC7C-40FC-95E3-11FDCD2E4291}"/>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a:extLst>
              <a:ext uri="{FF2B5EF4-FFF2-40B4-BE49-F238E27FC236}">
                <a16:creationId xmlns:a16="http://schemas.microsoft.com/office/drawing/2014/main" id="{0F87E73C-2B1A-4602-BFBE-CFE1E55D9B38}"/>
              </a:ext>
            </a:extLst>
          </p:cNvPr>
          <p:cNvSpPr>
            <a:spLocks noGrp="1"/>
          </p:cNvSpPr>
          <p:nvPr>
            <p:ph type="ctrTitle"/>
          </p:nvPr>
        </p:nvSpPr>
        <p:spPr>
          <a:xfrm>
            <a:off x="8296275" y="2921454"/>
            <a:ext cx="3081576" cy="670832"/>
          </a:xfrm>
        </p:spPr>
        <p:txBody>
          <a:bodyPr>
            <a:normAutofit/>
          </a:bodyPr>
          <a:lstStyle/>
          <a:p>
            <a:r>
              <a:rPr lang="en-US" dirty="0">
                <a:solidFill>
                  <a:srgbClr val="FFFFFF"/>
                </a:solidFill>
              </a:rPr>
              <a:t>Thank You</a:t>
            </a:r>
          </a:p>
        </p:txBody>
      </p:sp>
      <p:grpSp>
        <p:nvGrpSpPr>
          <p:cNvPr id="14" name="Group 13">
            <a:extLst>
              <a:ext uri="{FF2B5EF4-FFF2-40B4-BE49-F238E27FC236}">
                <a16:creationId xmlns:a16="http://schemas.microsoft.com/office/drawing/2014/main" id="{9A421166-2996-41A7-B094-AE5316F347DD}"/>
              </a:ext>
              <a:ext uri="{C183D7F6-B498-43B3-948B-1728B52AA6E4}">
                <adec:decorative xmlns:adec="http://schemas.microsoft.com/office/drawing/2017/decorative" xmlns=""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46534" y="453643"/>
            <a:ext cx="11298933" cy="98554"/>
            <a:chOff x="446534" y="453643"/>
            <a:chExt cx="11298933" cy="98554"/>
          </a:xfrm>
        </p:grpSpPr>
        <p:sp>
          <p:nvSpPr>
            <p:cNvPr id="15" name="Rectangle 14">
              <a:extLst>
                <a:ext uri="{FF2B5EF4-FFF2-40B4-BE49-F238E27FC236}">
                  <a16:creationId xmlns:a16="http://schemas.microsoft.com/office/drawing/2014/main" id="{FDBB1B92-A3EB-43E4-8FAB-D20E8ED14CEF}"/>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6" name="Rectangle 15">
              <a:extLst>
                <a:ext uri="{FF2B5EF4-FFF2-40B4-BE49-F238E27FC236}">
                  <a16:creationId xmlns:a16="http://schemas.microsoft.com/office/drawing/2014/main" id="{3F3972F4-FE7E-48EA-AAD8-9BE5750A6672}"/>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7" name="Rectangle 16">
              <a:extLst>
                <a:ext uri="{FF2B5EF4-FFF2-40B4-BE49-F238E27FC236}">
                  <a16:creationId xmlns:a16="http://schemas.microsoft.com/office/drawing/2014/main" id="{221614E5-870B-4D5E-A43B-8FF7E5323484}"/>
                </a:ext>
                <a:ext uri="{C183D7F6-B498-43B3-948B-1728B52AA6E4}">
                  <adec:decorative xmlns:adec="http://schemas.microsoft.com/office/drawing/2017/decorative" xmlns="" val="1"/>
                </a:ext>
              </a:extLst>
            </p:cNvPr>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grpSp>
    </p:spTree>
    <p:extLst>
      <p:ext uri="{BB962C8B-B14F-4D97-AF65-F5344CB8AC3E}">
        <p14:creationId xmlns:p14="http://schemas.microsoft.com/office/powerpoint/2010/main" val="3501347425"/>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66F1C100-1D2B-4BEA-AD01-C4F230B3B96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1c2eb7a32e66fb6e4260f3771546a5e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04e1f6479c48b08974ba73b5ca973489"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4ABC737-7714-4383-83AA-9E7E16CCB42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DEF96C5-3DBB-474D-9A68-6602A116B4D3}">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E713E99F-A368-412C-B268-19FC7C8FD47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Dividend design</Template>
  <TotalTime>0</TotalTime>
  <Words>437</Words>
  <Application>Microsoft Office PowerPoint</Application>
  <PresentationFormat>Widescreen</PresentationFormat>
  <Paragraphs>69</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Gill Sans MT</vt:lpstr>
      <vt:lpstr>Times New Roman</vt:lpstr>
      <vt:lpstr>Wingdings 2</vt:lpstr>
      <vt:lpstr>Dividend</vt:lpstr>
      <vt:lpstr>PowerPoint Presentation</vt:lpstr>
      <vt:lpstr>Presentation Outline</vt:lpstr>
      <vt:lpstr>Introduction</vt:lpstr>
      <vt:lpstr>Components</vt:lpstr>
      <vt:lpstr>Functional Requirement </vt:lpstr>
      <vt:lpstr>PowerPoint Presentation</vt:lpstr>
      <vt:lpstr>Non-Functional Requirement</vt:lpstr>
      <vt:lpstr>Use Case Diagram</vt:lpstr>
      <vt:lpstr>Class Diagram </vt:lpstr>
      <vt:lpstr>Object Diagram</vt:lpstr>
      <vt:lpstr>Sequence Diagram</vt:lpstr>
      <vt:lpstr>Activity Diagram</vt:lpstr>
      <vt:lpstr>ER Diagram</vt:lpstr>
      <vt:lpstr>Conclusion and Future Scope</vt:lpstr>
      <vt:lpstr>References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2019-04-10T16:59:45Z</dcterms:created>
  <dcterms:modified xsi:type="dcterms:W3CDTF">2019-04-10T17:41:56Z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